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Title
Open with the problem space. Emphasize that this is not 'yet another monitoring tool' — it's a trust architecture. Mention Site24x7 + Visualping partnership.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The Real Problem
Set the stakes. Modern defacement is not just 'content changed' — it's multi-layered. The 4 attack vectors show what AI-only tools miss. Emphasize DNS as the trust anchor.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Attack Simulation
This is the soul slide. Walk through the attacker flow step by step. The animated path shows how each stage flows into the next. Then reveal our 3-layer interception. Use the animation to build 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AI-Only Fails
Position AI as assistant, not guardian. The 4 limitations show why probabilistic inference is insufficient for incident response. Emphasize the evidence gap — SOC needs certainty, not probability.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 Capability Comparison
The kill slide. Walk through each row slowly. The 'Who is accountable?' row is the closer. Pause here — let the weight land. Enterprise buyers care about liability transfer.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06 Architecture
The philosophy slide. Each layer answers ONE question. Don't rush — let the audience absorb the vertical flow. The tool mapping at the bottom is the practical hook. Close with the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07 Layer Breakdown
The practical deployment slide. Show what actually gets deployed, with frequencies. The IPv6 quote is the punchline — most enterprises are blind to this attack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 Visual Deep Dive
Visualping is not a screenshot tool — it's a detection layer. The 4 threats show why DOM monitoring is insufficient. CSS overlay phishing is the scariest because the DOM doesn't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 IPv6 Blind Spot
The blind spot slide. Three hard facts about IPv6 preference. This is technical but critical — CISOs need to understand that their IPv4-only monitoring is monitoring a ghost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SOC Model
Time-bound SLA slide. The 1-5-15 model is the operational promise. Walk through the workflow tree. This is what separates a tool from a security operations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Audit &amp; Compliance
Government/HA compliance slide. Immutable audit trail and vendor liability are the decision factors for regulated industries. RBAC and SOC 2 are table stakes.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TCO Reality
The money slide. DIY is never free — engineering time is the hidden cost. Emphasize predictability: enterprise budgets need predictable OPEX, not surprise engineering sprints.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Why Others Fall Short
Optional but powerful. Map competitor categories to their fatal weakness. Don't name specific competitors — categories are safer and more professional. Close each row with our advantage.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Conclusion
The closing. Three powerful quotes. The comparison strip is the final anchor. Leave the audience with: we don't just detect — we prove. We don't just monitor — we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09728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9728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9728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728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728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728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70432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70432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70432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70432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70432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70432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70432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70432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70432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170432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170432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70432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70432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700784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700784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700784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700784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700784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700784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700784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700784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700784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700784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700784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700784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700784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231136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231136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231136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231136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231136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231136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231136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231136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231136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231136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231136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231136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231136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2761488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761488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761488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761488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2761488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761488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2761488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2761488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2761488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761488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761488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761488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2761488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291840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291840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291840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291840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291840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291840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291840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291840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291840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291840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291840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291840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291840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3822192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3822192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3822192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822192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822192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822192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3822192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822192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3822192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822192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822192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3822192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3822192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352544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352544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352544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352544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352544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352544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352544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352544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352544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352544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352544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352544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352544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882896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882896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882896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882896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882896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882896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882896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882896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882896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882896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882896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882896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882896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5413248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5413248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5413248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5413248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5413248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5413248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413248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413248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413248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413248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413248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413248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413248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943600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943600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943600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943600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943600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943600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943600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943600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943600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943600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943600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943600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943600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6473952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6473952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6473952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6473952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6473952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6473952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6473952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6473952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6473952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6473952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473952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473952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473952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7004304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7004304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7004304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7004304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7004304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7004304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7004304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7004304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7004304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7004304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7004304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7004304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7004304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7534656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7534656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7534656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7534656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7534656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7534656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7534656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7534656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7534656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7534656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7534656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7534656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7534656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8065008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8065008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8065008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8065008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8065008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8065008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8065008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8065008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8065008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8065008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8065008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8065008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8065008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8595360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8595360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8595360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8595360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8595360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8595360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8595360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8595360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8595360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8595360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8595360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8595360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8595360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9125712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9125712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9125712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9125712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9125712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9125712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9125712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9125712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9125712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9125712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9125712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9125712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9125712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9656064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9656064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9656064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9656064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9656064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9656064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9656064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9656064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9656064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9656064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9656064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9656064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9656064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10186416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10186416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10186416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10186416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10186416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10186416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10186416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10186416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10186416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10186416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10186416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10186416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10186416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10716768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10716768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10716768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10716768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10716768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10716768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10716768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10716768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10716768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10716768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10716768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10716768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10716768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11247120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11247120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11247120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11247120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11247120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11247120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11247120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11247120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11247120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11247120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11247120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11247120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11247120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11777472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11777472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11777472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11777472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11777472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11777472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11777472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11777472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11777472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11777472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11777472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11777472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11777472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02" name="Text 299"/>
          <p:cNvSpPr/>
          <p:nvPr/>
        </p:nvSpPr>
        <p:spPr>
          <a:xfrm>
            <a:off x="320040" y="292608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8D9B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WTI · MONITORING SYSTEM</a:t>
            </a:r>
            <a:endParaRPr lang="en-US" sz="720" dirty="0"/>
          </a:p>
        </p:txBody>
      </p:sp>
      <p:sp>
        <p:nvSpPr>
          <p:cNvPr id="303" name="Text 300"/>
          <p:cNvSpPr/>
          <p:nvPr/>
        </p:nvSpPr>
        <p:spPr>
          <a:xfrm>
            <a:off x="10607040" y="292608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● LIVE</a:t>
            </a:r>
            <a:endParaRPr lang="en-US" sz="720" dirty="0"/>
          </a:p>
        </p:txBody>
      </p:sp>
      <p:sp>
        <p:nvSpPr>
          <p:cNvPr id="304" name="Text 301"/>
          <p:cNvSpPr/>
          <p:nvPr/>
        </p:nvSpPr>
        <p:spPr>
          <a:xfrm>
            <a:off x="0" y="1408176"/>
            <a:ext cx="12192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Enterprise Security Monitoring</a:t>
            </a:r>
            <a:endParaRPr lang="en-US" sz="950" dirty="0"/>
          </a:p>
        </p:txBody>
      </p:sp>
      <p:sp>
        <p:nvSpPr>
          <p:cNvPr id="305" name="Text 302"/>
          <p:cNvSpPr/>
          <p:nvPr/>
        </p:nvSpPr>
        <p:spPr>
          <a:xfrm>
            <a:off x="1737360" y="1828800"/>
            <a:ext cx="8732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Trust Integrity</a:t>
            </a:r>
            <a:endParaRPr lang="en-US" sz="4100" dirty="0"/>
          </a:p>
          <a:p>
            <a:pPr algn="ctr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System</a:t>
            </a:r>
            <a:endParaRPr lang="en-US" sz="4100" dirty="0"/>
          </a:p>
        </p:txBody>
      </p:sp>
      <p:sp>
        <p:nvSpPr>
          <p:cNvPr id="306" name="Shape 303"/>
          <p:cNvSpPr/>
          <p:nvPr/>
        </p:nvSpPr>
        <p:spPr>
          <a:xfrm>
            <a:off x="3566160" y="3493008"/>
            <a:ext cx="438912" cy="0"/>
          </a:xfrm>
          <a:prstGeom prst="line">
            <a:avLst/>
          </a:prstGeom>
          <a:noFill/>
          <a:ln w="12700">
            <a:solidFill>
              <a:srgbClr val="6F9CFF"/>
            </a:solidFill>
            <a:prstDash val="solid"/>
          </a:ln>
        </p:spPr>
      </p:sp>
      <p:sp>
        <p:nvSpPr>
          <p:cNvPr id="307" name="Text 304"/>
          <p:cNvSpPr/>
          <p:nvPr/>
        </p:nvSpPr>
        <p:spPr>
          <a:xfrm>
            <a:off x="4160520" y="3401568"/>
            <a:ext cx="3886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C7D2E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EVIDENCE-BASED · DETERMINISTIC</a:t>
            </a:r>
            <a:endParaRPr lang="en-US" sz="800" dirty="0"/>
          </a:p>
        </p:txBody>
      </p:sp>
      <p:sp>
        <p:nvSpPr>
          <p:cNvPr id="308" name="Shape 305"/>
          <p:cNvSpPr/>
          <p:nvPr/>
        </p:nvSpPr>
        <p:spPr>
          <a:xfrm>
            <a:off x="8193024" y="3493008"/>
            <a:ext cx="438912" cy="0"/>
          </a:xfrm>
          <a:prstGeom prst="line">
            <a:avLst/>
          </a:prstGeom>
          <a:noFill/>
          <a:ln w="12700">
            <a:solidFill>
              <a:srgbClr val="6F9CFF"/>
            </a:solidFill>
            <a:prstDash val="solid"/>
          </a:ln>
        </p:spPr>
      </p:sp>
      <p:sp>
        <p:nvSpPr>
          <p:cNvPr id="309" name="Text 306"/>
          <p:cNvSpPr/>
          <p:nvPr/>
        </p:nvSpPr>
        <p:spPr>
          <a:xfrm>
            <a:off x="2194560" y="3886200"/>
            <a:ext cx="7818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Beyond AI-Only Detection — Multi-Layer, Dual-Stack</a:t>
            </a:r>
            <a:endParaRPr lang="en-US" sz="1700" dirty="0"/>
          </a:p>
        </p:txBody>
      </p:sp>
      <p:sp>
        <p:nvSpPr>
          <p:cNvPr id="310" name="Shape 307"/>
          <p:cNvSpPr/>
          <p:nvPr/>
        </p:nvSpPr>
        <p:spPr>
          <a:xfrm>
            <a:off x="2606040" y="4617720"/>
            <a:ext cx="694944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11" name="Text 308"/>
          <p:cNvSpPr/>
          <p:nvPr/>
        </p:nvSpPr>
        <p:spPr>
          <a:xfrm>
            <a:off x="2606040" y="4736592"/>
            <a:ext cx="13898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L1</a:t>
            </a:r>
            <a:endParaRPr lang="en-US" sz="620" dirty="0"/>
          </a:p>
        </p:txBody>
      </p:sp>
      <p:sp>
        <p:nvSpPr>
          <p:cNvPr id="312" name="Text 309"/>
          <p:cNvSpPr/>
          <p:nvPr/>
        </p:nvSpPr>
        <p:spPr>
          <a:xfrm>
            <a:off x="2606040" y="4946904"/>
            <a:ext cx="1389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</a:t>
            </a:r>
            <a:endParaRPr lang="en-US" sz="920" dirty="0"/>
          </a:p>
        </p:txBody>
      </p:sp>
      <p:sp>
        <p:nvSpPr>
          <p:cNvPr id="313" name="Shape 310"/>
          <p:cNvSpPr/>
          <p:nvPr/>
        </p:nvSpPr>
        <p:spPr>
          <a:xfrm>
            <a:off x="3995928" y="4617720"/>
            <a:ext cx="0" cy="658368"/>
          </a:xfrm>
          <a:prstGeom prst="line">
            <a:avLst/>
          </a:prstGeom>
          <a:noFill/>
          <a:ln w="12700">
            <a:solidFill>
              <a:srgbClr val="465166"/>
            </a:solidFill>
            <a:prstDash val="solid"/>
          </a:ln>
        </p:spPr>
      </p:sp>
      <p:sp>
        <p:nvSpPr>
          <p:cNvPr id="314" name="Text 311"/>
          <p:cNvSpPr/>
          <p:nvPr/>
        </p:nvSpPr>
        <p:spPr>
          <a:xfrm>
            <a:off x="3995928" y="4736592"/>
            <a:ext cx="13898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L2</a:t>
            </a:r>
            <a:endParaRPr lang="en-US" sz="620" dirty="0"/>
          </a:p>
        </p:txBody>
      </p:sp>
      <p:sp>
        <p:nvSpPr>
          <p:cNvPr id="315" name="Text 312"/>
          <p:cNvSpPr/>
          <p:nvPr/>
        </p:nvSpPr>
        <p:spPr>
          <a:xfrm>
            <a:off x="3995928" y="4946904"/>
            <a:ext cx="1389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IPv4 / IPv6</a:t>
            </a:r>
            <a:endParaRPr lang="en-US" sz="920" dirty="0"/>
          </a:p>
        </p:txBody>
      </p:sp>
      <p:sp>
        <p:nvSpPr>
          <p:cNvPr id="316" name="Shape 313"/>
          <p:cNvSpPr/>
          <p:nvPr/>
        </p:nvSpPr>
        <p:spPr>
          <a:xfrm>
            <a:off x="5385816" y="4617720"/>
            <a:ext cx="0" cy="658368"/>
          </a:xfrm>
          <a:prstGeom prst="line">
            <a:avLst/>
          </a:prstGeom>
          <a:noFill/>
          <a:ln w="12700">
            <a:solidFill>
              <a:srgbClr val="465166"/>
            </a:solidFill>
            <a:prstDash val="solid"/>
          </a:ln>
        </p:spPr>
      </p:sp>
      <p:sp>
        <p:nvSpPr>
          <p:cNvPr id="317" name="Text 314"/>
          <p:cNvSpPr/>
          <p:nvPr/>
        </p:nvSpPr>
        <p:spPr>
          <a:xfrm>
            <a:off x="5385816" y="4736592"/>
            <a:ext cx="13898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L3</a:t>
            </a:r>
            <a:endParaRPr lang="en-US" sz="620" dirty="0"/>
          </a:p>
        </p:txBody>
      </p:sp>
      <p:sp>
        <p:nvSpPr>
          <p:cNvPr id="318" name="Text 315"/>
          <p:cNvSpPr/>
          <p:nvPr/>
        </p:nvSpPr>
        <p:spPr>
          <a:xfrm>
            <a:off x="5385816" y="4946904"/>
            <a:ext cx="1389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920" dirty="0"/>
          </a:p>
        </p:txBody>
      </p:sp>
      <p:sp>
        <p:nvSpPr>
          <p:cNvPr id="319" name="Shape 316"/>
          <p:cNvSpPr/>
          <p:nvPr/>
        </p:nvSpPr>
        <p:spPr>
          <a:xfrm>
            <a:off x="6775704" y="4617720"/>
            <a:ext cx="0" cy="658368"/>
          </a:xfrm>
          <a:prstGeom prst="line">
            <a:avLst/>
          </a:prstGeom>
          <a:noFill/>
          <a:ln w="12700">
            <a:solidFill>
              <a:srgbClr val="465166"/>
            </a:solidFill>
            <a:prstDash val="solid"/>
          </a:ln>
        </p:spPr>
      </p:sp>
      <p:sp>
        <p:nvSpPr>
          <p:cNvPr id="320" name="Text 317"/>
          <p:cNvSpPr/>
          <p:nvPr/>
        </p:nvSpPr>
        <p:spPr>
          <a:xfrm>
            <a:off x="6775704" y="4736592"/>
            <a:ext cx="13898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L4</a:t>
            </a:r>
            <a:endParaRPr lang="en-US" sz="620" dirty="0"/>
          </a:p>
        </p:txBody>
      </p:sp>
      <p:sp>
        <p:nvSpPr>
          <p:cNvPr id="321" name="Text 318"/>
          <p:cNvSpPr/>
          <p:nvPr/>
        </p:nvSpPr>
        <p:spPr>
          <a:xfrm>
            <a:off x="6775704" y="4946904"/>
            <a:ext cx="1389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</a:t>
            </a:r>
            <a:endParaRPr lang="en-US" sz="920" dirty="0"/>
          </a:p>
        </p:txBody>
      </p:sp>
      <p:sp>
        <p:nvSpPr>
          <p:cNvPr id="322" name="Shape 319"/>
          <p:cNvSpPr/>
          <p:nvPr/>
        </p:nvSpPr>
        <p:spPr>
          <a:xfrm>
            <a:off x="8165592" y="4617720"/>
            <a:ext cx="0" cy="658368"/>
          </a:xfrm>
          <a:prstGeom prst="line">
            <a:avLst/>
          </a:prstGeom>
          <a:noFill/>
          <a:ln w="12700">
            <a:solidFill>
              <a:srgbClr val="465166"/>
            </a:solidFill>
            <a:prstDash val="solid"/>
          </a:ln>
        </p:spPr>
      </p:sp>
      <p:sp>
        <p:nvSpPr>
          <p:cNvPr id="323" name="Text 320"/>
          <p:cNvSpPr/>
          <p:nvPr/>
        </p:nvSpPr>
        <p:spPr>
          <a:xfrm>
            <a:off x="8165592" y="4736592"/>
            <a:ext cx="1389888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L5</a:t>
            </a:r>
            <a:endParaRPr lang="en-US" sz="620" dirty="0"/>
          </a:p>
        </p:txBody>
      </p:sp>
      <p:sp>
        <p:nvSpPr>
          <p:cNvPr id="324" name="Text 321"/>
          <p:cNvSpPr/>
          <p:nvPr/>
        </p:nvSpPr>
        <p:spPr>
          <a:xfrm>
            <a:off x="8165592" y="4946904"/>
            <a:ext cx="138988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</a:t>
            </a:r>
            <a:endParaRPr lang="en-US" sz="920" dirty="0"/>
          </a:p>
        </p:txBody>
      </p:sp>
      <p:sp>
        <p:nvSpPr>
          <p:cNvPr id="325" name="Text 322"/>
          <p:cNvSpPr/>
          <p:nvPr/>
        </p:nvSpPr>
        <p:spPr>
          <a:xfrm>
            <a:off x="4160520" y="5550408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8D9B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POWERED BY</a:t>
            </a:r>
            <a:endParaRPr lang="en-US" sz="640" dirty="0"/>
          </a:p>
        </p:txBody>
      </p:sp>
      <p:sp>
        <p:nvSpPr>
          <p:cNvPr id="326" name="Text 323"/>
          <p:cNvSpPr/>
          <p:nvPr/>
        </p:nvSpPr>
        <p:spPr>
          <a:xfrm>
            <a:off x="5029200" y="5522976"/>
            <a:ext cx="31089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6ED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SITE24X7   +   VISUALPING</a:t>
            </a:r>
            <a:endParaRPr lang="en-US" sz="850" dirty="0"/>
          </a:p>
        </p:txBody>
      </p:sp>
      <p:sp>
        <p:nvSpPr>
          <p:cNvPr id="327" name="Text 324"/>
          <p:cNvSpPr/>
          <p:nvPr/>
        </p:nvSpPr>
        <p:spPr>
          <a:xfrm>
            <a:off x="320040" y="6428232"/>
            <a:ext cx="1188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D9B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v1.0 · 2026</a:t>
            </a:r>
            <a:endParaRPr lang="en-US" sz="650" dirty="0"/>
          </a:p>
        </p:txBody>
      </p:sp>
      <p:sp>
        <p:nvSpPr>
          <p:cNvPr id="328" name="Text 325"/>
          <p:cNvSpPr/>
          <p:nvPr/>
        </p:nvSpPr>
        <p:spPr>
          <a:xfrm>
            <a:off x="9418320" y="6428232"/>
            <a:ext cx="2468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8D9BB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CONFIDENTIAL · INTERNAL REVIEW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808" y="475488"/>
            <a:ext cx="5303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THE THREAT LANDSCAPE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749808" y="786384"/>
            <a:ext cx="105156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 Web Defacement ≠ Just Content Change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749808" y="1645920"/>
            <a:ext cx="2423160" cy="28803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645920"/>
            <a:ext cx="2423160" cy="36576"/>
          </a:xfrm>
          <a:prstGeom prst="rect">
            <a:avLst/>
          </a:prstGeom>
          <a:solidFill>
            <a:srgbClr val="D94A38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810512"/>
            <a:ext cx="20939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VECTOR 01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914400" y="2029968"/>
            <a:ext cx="209397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/ AAAA Hijack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914400" y="2340864"/>
            <a:ext cx="2093976" cy="1892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Full-site redirect to malicious host. SSL certs cannot save you.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896112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DNS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914400" y="3968496"/>
            <a:ext cx="2093976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096512"/>
            <a:ext cx="14630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AI-ONLY DETECTION</a:t>
            </a:r>
            <a:endParaRPr lang="en-US" sz="580" dirty="0"/>
          </a:p>
        </p:txBody>
      </p:sp>
      <p:sp>
        <p:nvSpPr>
          <p:cNvPr id="13" name="Text 10"/>
          <p:cNvSpPr/>
          <p:nvPr/>
        </p:nvSpPr>
        <p:spPr>
          <a:xfrm>
            <a:off x="914400" y="4279392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No DNS visibility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3511296" y="1645920"/>
            <a:ext cx="2423160" cy="28803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11296" y="1645920"/>
            <a:ext cx="2423160" cy="36576"/>
          </a:xfrm>
          <a:prstGeom prst="rect">
            <a:avLst/>
          </a:prstGeom>
          <a:solidFill>
            <a:srgbClr val="D94A38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75888" y="1810512"/>
            <a:ext cx="20939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VECTOR 02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3675888" y="2029968"/>
            <a:ext cx="209397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 Hijack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3675888" y="2340864"/>
            <a:ext cx="2093976" cy="1892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Bypasses IPv4 monitoring entirely. Modern OS prefers IPv6 by default.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3657600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IPv6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3675888" y="3968496"/>
            <a:ext cx="2093976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75888" y="4096512"/>
            <a:ext cx="14630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AI-ONLY DETECTION</a:t>
            </a:r>
            <a:endParaRPr lang="en-US" sz="580" dirty="0"/>
          </a:p>
        </p:txBody>
      </p:sp>
      <p:sp>
        <p:nvSpPr>
          <p:cNvPr id="22" name="Text 19"/>
          <p:cNvSpPr/>
          <p:nvPr/>
        </p:nvSpPr>
        <p:spPr>
          <a:xfrm>
            <a:off x="3675888" y="4279392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Most tools IPv4-only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6272784" y="1645920"/>
            <a:ext cx="2423160" cy="28803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72784" y="1645920"/>
            <a:ext cx="2423160" cy="36576"/>
          </a:xfrm>
          <a:prstGeom prst="rect">
            <a:avLst/>
          </a:prstGeom>
          <a:solidFill>
            <a:srgbClr val="A46F13"/>
          </a:solidFill>
          <a:ln w="12700">
            <a:solidFill>
              <a:srgbClr val="A46F1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37376" y="1810512"/>
            <a:ext cx="20939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A46F1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VECTOR 03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6437376" y="2029968"/>
            <a:ext cx="209397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XSS Injection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6437376" y="2340864"/>
            <a:ext cx="2093976" cy="1892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looks normal but executes malicious script in browser context.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6419088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A46F1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DOM</a:t>
            </a:r>
            <a:endParaRPr lang="en-US" sz="2800" dirty="0"/>
          </a:p>
        </p:txBody>
      </p:sp>
      <p:sp>
        <p:nvSpPr>
          <p:cNvPr id="29" name="Shape 26"/>
          <p:cNvSpPr/>
          <p:nvPr/>
        </p:nvSpPr>
        <p:spPr>
          <a:xfrm>
            <a:off x="6437376" y="3968496"/>
            <a:ext cx="2093976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37376" y="4096512"/>
            <a:ext cx="14630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AI-ONLY DETECTION</a:t>
            </a:r>
            <a:endParaRPr lang="en-US" sz="580" dirty="0"/>
          </a:p>
        </p:txBody>
      </p:sp>
      <p:sp>
        <p:nvSpPr>
          <p:cNvPr id="31" name="Text 28"/>
          <p:cNvSpPr/>
          <p:nvPr/>
        </p:nvSpPr>
        <p:spPr>
          <a:xfrm>
            <a:off x="6437376" y="4279392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A4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High false-positive rate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9034272" y="1645920"/>
            <a:ext cx="2423160" cy="28803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34272" y="1645920"/>
            <a:ext cx="2423160" cy="36576"/>
          </a:xfrm>
          <a:prstGeom prst="rect">
            <a:avLst/>
          </a:prstGeom>
          <a:solidFill>
            <a:srgbClr val="D94A38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98864" y="1810512"/>
            <a:ext cx="20939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VECTOR 04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9198864" y="2029968"/>
            <a:ext cx="209397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Overlay Phishing</a:t>
            </a:r>
            <a:endParaRPr lang="en-US" sz="1220" dirty="0"/>
          </a:p>
        </p:txBody>
      </p:sp>
      <p:sp>
        <p:nvSpPr>
          <p:cNvPr id="36" name="Text 33"/>
          <p:cNvSpPr/>
          <p:nvPr/>
        </p:nvSpPr>
        <p:spPr>
          <a:xfrm>
            <a:off x="9198864" y="2340864"/>
            <a:ext cx="2093976" cy="1892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Fake login overlay over real page. URL unchanged. Text diff invisible.</a:t>
            </a:r>
            <a:endParaRPr lang="en-US" sz="880" dirty="0"/>
          </a:p>
        </p:txBody>
      </p:sp>
      <p:sp>
        <p:nvSpPr>
          <p:cNvPr id="37" name="Text 34"/>
          <p:cNvSpPr/>
          <p:nvPr/>
        </p:nvSpPr>
        <p:spPr>
          <a:xfrm>
            <a:off x="9180576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CSS</a:t>
            </a:r>
            <a:endParaRPr lang="en-US" sz="2800" dirty="0"/>
          </a:p>
        </p:txBody>
      </p:sp>
      <p:sp>
        <p:nvSpPr>
          <p:cNvPr id="38" name="Shape 35"/>
          <p:cNvSpPr/>
          <p:nvPr/>
        </p:nvSpPr>
        <p:spPr>
          <a:xfrm>
            <a:off x="9198864" y="3968496"/>
            <a:ext cx="2093976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198864" y="4096512"/>
            <a:ext cx="14630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AI-ONLY DETECTION</a:t>
            </a:r>
            <a:endParaRPr lang="en-US" sz="580" dirty="0"/>
          </a:p>
        </p:txBody>
      </p:sp>
      <p:sp>
        <p:nvSpPr>
          <p:cNvPr id="40" name="Text 37"/>
          <p:cNvSpPr/>
          <p:nvPr/>
        </p:nvSpPr>
        <p:spPr>
          <a:xfrm>
            <a:off x="9198864" y="4279392"/>
            <a:ext cx="20574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Visual layer blind</a:t>
            </a:r>
            <a:endParaRPr lang="en-US" sz="720" dirty="0"/>
          </a:p>
        </p:txBody>
      </p:sp>
      <p:sp>
        <p:nvSpPr>
          <p:cNvPr id="41" name="Shape 38"/>
          <p:cNvSpPr/>
          <p:nvPr/>
        </p:nvSpPr>
        <p:spPr>
          <a:xfrm>
            <a:off x="950976" y="4956048"/>
            <a:ext cx="10149840" cy="822960"/>
          </a:xfrm>
          <a:prstGeom prst="roundRect">
            <a:avLst>
              <a:gd name="adj" fmla="val 8889"/>
            </a:avLst>
          </a:prstGeom>
          <a:solidFill>
            <a:srgbClr val="EEF4FF"/>
          </a:solidFill>
          <a:ln w="12700">
            <a:solidFill>
              <a:srgbClr val="C8D8F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50976" y="4956048"/>
            <a:ext cx="32004" cy="822960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52144" y="5084064"/>
            <a:ext cx="97840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PRINCIPLE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>
            <a:off x="1152144" y="5303520"/>
            <a:ext cx="9747504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i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"DNS is the trust anchor of the Internet. Once compromised, even SSL certificates cannot save you."</a:t>
            </a:r>
            <a:endParaRPr lang="en-US" sz="1220" dirty="0"/>
          </a:p>
        </p:txBody>
      </p:sp>
      <p:sp>
        <p:nvSpPr>
          <p:cNvPr id="45" name="Shape 42"/>
          <p:cNvSpPr/>
          <p:nvPr/>
        </p:nvSpPr>
        <p:spPr>
          <a:xfrm>
            <a:off x="749808" y="6473952"/>
            <a:ext cx="10680192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9808" y="6556248"/>
            <a:ext cx="4572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TRUST INTEGRITY MONITORING SYSTEM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10744200" y="6556248"/>
            <a:ext cx="685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 / 14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808" y="475488"/>
            <a:ext cx="5303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Attacker Flow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749808" y="749808"/>
            <a:ext cx="98755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They Bypass AI Monitoring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▼ Attack Chain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914400" y="1783080"/>
            <a:ext cx="329184" cy="329184"/>
          </a:xfrm>
          <a:prstGeom prst="ellipse">
            <a:avLst/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" y="1865376"/>
            <a:ext cx="25603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660" dirty="0"/>
          </a:p>
        </p:txBody>
      </p:sp>
      <p:sp>
        <p:nvSpPr>
          <p:cNvPr id="8" name="Shape 5"/>
          <p:cNvSpPr/>
          <p:nvPr/>
        </p:nvSpPr>
        <p:spPr>
          <a:xfrm>
            <a:off x="1078992" y="2130552"/>
            <a:ext cx="0" cy="347472"/>
          </a:xfrm>
          <a:prstGeom prst="line">
            <a:avLst/>
          </a:prstGeom>
          <a:noFill/>
          <a:ln w="12700">
            <a:solidFill>
              <a:srgbClr val="D94A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17320" y="1801368"/>
            <a:ext cx="3108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Compromise DNS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1417320" y="2002536"/>
            <a:ext cx="23774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change AAAA record</a:t>
            </a:r>
            <a:endParaRPr lang="en-US" sz="710" dirty="0"/>
          </a:p>
        </p:txBody>
      </p:sp>
      <p:sp>
        <p:nvSpPr>
          <p:cNvPr id="11" name="Shape 8"/>
          <p:cNvSpPr/>
          <p:nvPr/>
        </p:nvSpPr>
        <p:spPr>
          <a:xfrm>
            <a:off x="914400" y="2532888"/>
            <a:ext cx="329184" cy="329184"/>
          </a:xfrm>
          <a:prstGeom prst="ellipse">
            <a:avLst/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2615184"/>
            <a:ext cx="25603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660" dirty="0"/>
          </a:p>
        </p:txBody>
      </p:sp>
      <p:sp>
        <p:nvSpPr>
          <p:cNvPr id="13" name="Shape 10"/>
          <p:cNvSpPr/>
          <p:nvPr/>
        </p:nvSpPr>
        <p:spPr>
          <a:xfrm>
            <a:off x="1078992" y="2880360"/>
            <a:ext cx="0" cy="347472"/>
          </a:xfrm>
          <a:prstGeom prst="line">
            <a:avLst/>
          </a:prstGeom>
          <a:noFill/>
          <a:ln w="12700">
            <a:solidFill>
              <a:srgbClr val="D94A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17320" y="2551176"/>
            <a:ext cx="3108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phishing site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1417320" y="2752344"/>
            <a:ext cx="23774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on IPv6 path</a:t>
            </a:r>
            <a:endParaRPr lang="en-US" sz="710" dirty="0"/>
          </a:p>
        </p:txBody>
      </p:sp>
      <p:sp>
        <p:nvSpPr>
          <p:cNvPr id="16" name="Shape 13"/>
          <p:cNvSpPr/>
          <p:nvPr/>
        </p:nvSpPr>
        <p:spPr>
          <a:xfrm>
            <a:off x="914400" y="3282696"/>
            <a:ext cx="329184" cy="329184"/>
          </a:xfrm>
          <a:prstGeom prst="ellipse">
            <a:avLst/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0976" y="3364992"/>
            <a:ext cx="25603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660" dirty="0"/>
          </a:p>
        </p:txBody>
      </p:sp>
      <p:sp>
        <p:nvSpPr>
          <p:cNvPr id="18" name="Shape 15"/>
          <p:cNvSpPr/>
          <p:nvPr/>
        </p:nvSpPr>
        <p:spPr>
          <a:xfrm>
            <a:off x="1078992" y="3630168"/>
            <a:ext cx="0" cy="347472"/>
          </a:xfrm>
          <a:prstGeom prst="line">
            <a:avLst/>
          </a:prstGeom>
          <a:noFill/>
          <a:ln w="12700">
            <a:solidFill>
              <a:srgbClr val="D94A3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17320" y="3300984"/>
            <a:ext cx="3108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 fake login UI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1417320" y="3502152"/>
            <a:ext cx="23774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CSS overlay attack</a:t>
            </a:r>
            <a:endParaRPr lang="en-US" sz="710" dirty="0"/>
          </a:p>
        </p:txBody>
      </p:sp>
      <p:sp>
        <p:nvSpPr>
          <p:cNvPr id="21" name="Shape 18"/>
          <p:cNvSpPr/>
          <p:nvPr/>
        </p:nvSpPr>
        <p:spPr>
          <a:xfrm>
            <a:off x="914400" y="4032504"/>
            <a:ext cx="329184" cy="329184"/>
          </a:xfrm>
          <a:prstGeom prst="ellipse">
            <a:avLst/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0976" y="4114800"/>
            <a:ext cx="25603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660" dirty="0"/>
          </a:p>
        </p:txBody>
      </p:sp>
      <p:sp>
        <p:nvSpPr>
          <p:cNvPr id="23" name="Text 20"/>
          <p:cNvSpPr/>
          <p:nvPr/>
        </p:nvSpPr>
        <p:spPr>
          <a:xfrm>
            <a:off x="1417320" y="4050792"/>
            <a:ext cx="3108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access via IPv6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417320" y="4251960"/>
            <a:ext cx="23774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default OS behavior</a:t>
            </a:r>
            <a:endParaRPr lang="en-US" sz="710" dirty="0"/>
          </a:p>
        </p:txBody>
      </p:sp>
      <p:sp>
        <p:nvSpPr>
          <p:cNvPr id="25" name="Shape 22"/>
          <p:cNvSpPr/>
          <p:nvPr/>
        </p:nvSpPr>
        <p:spPr>
          <a:xfrm>
            <a:off x="822960" y="495604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102352"/>
            <a:ext cx="10972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RESULT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1005840" y="5340096"/>
            <a:ext cx="38404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AI monitoring sees "normal page"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IPv4 monitor sees clean site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User → COMPROMISED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6400800" y="1417320"/>
            <a:ext cx="2377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▲ Our Interception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400800" y="1783080"/>
            <a:ext cx="4526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1783080"/>
            <a:ext cx="45262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65392" y="1947672"/>
            <a:ext cx="41970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LAYER 01 · DNS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6565392" y="2167128"/>
            <a:ext cx="41970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Site24x7 DNS Monitor</a:t>
            </a:r>
            <a:endParaRPr lang="en-US" sz="1040" dirty="0"/>
          </a:p>
        </p:txBody>
      </p:sp>
      <p:sp>
        <p:nvSpPr>
          <p:cNvPr id="33" name="Text 30"/>
          <p:cNvSpPr/>
          <p:nvPr/>
        </p:nvSpPr>
        <p:spPr>
          <a:xfrm>
            <a:off x="6565392" y="2478024"/>
            <a:ext cx="4197096" cy="-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A/AAAA/MX record changes from 130+ geo-locations</a:t>
            </a:r>
            <a:endParaRPr lang="en-US" sz="740" dirty="0"/>
          </a:p>
        </p:txBody>
      </p:sp>
      <p:sp>
        <p:nvSpPr>
          <p:cNvPr id="34" name="Shape 31"/>
          <p:cNvSpPr/>
          <p:nvPr/>
        </p:nvSpPr>
        <p:spPr>
          <a:xfrm>
            <a:off x="6400800" y="2569464"/>
            <a:ext cx="4526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00800" y="2569464"/>
            <a:ext cx="45262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65392" y="2734056"/>
            <a:ext cx="41970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LAYER 02 · NETWORK</a:t>
            </a:r>
            <a:endParaRPr lang="en-US" sz="680" dirty="0"/>
          </a:p>
        </p:txBody>
      </p:sp>
      <p:sp>
        <p:nvSpPr>
          <p:cNvPr id="37" name="Text 34"/>
          <p:cNvSpPr/>
          <p:nvPr/>
        </p:nvSpPr>
        <p:spPr>
          <a:xfrm>
            <a:off x="6565392" y="2953512"/>
            <a:ext cx="41970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Dual-Stack Validation</a:t>
            </a:r>
            <a:endParaRPr lang="en-US" sz="1040" dirty="0"/>
          </a:p>
        </p:txBody>
      </p:sp>
      <p:sp>
        <p:nvSpPr>
          <p:cNvPr id="38" name="Text 35"/>
          <p:cNvSpPr/>
          <p:nvPr/>
        </p:nvSpPr>
        <p:spPr>
          <a:xfrm>
            <a:off x="6565392" y="3264408"/>
            <a:ext cx="4197096" cy="-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IPv4 + IPv6 traversal triggers anomaly when paths diverge</a:t>
            </a:r>
            <a:endParaRPr lang="en-US" sz="740" dirty="0"/>
          </a:p>
        </p:txBody>
      </p:sp>
      <p:sp>
        <p:nvSpPr>
          <p:cNvPr id="39" name="Shape 36"/>
          <p:cNvSpPr/>
          <p:nvPr/>
        </p:nvSpPr>
        <p:spPr>
          <a:xfrm>
            <a:off x="6400800" y="3355848"/>
            <a:ext cx="4526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0" y="3355848"/>
            <a:ext cx="45262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65392" y="3520440"/>
            <a:ext cx="41970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LAYER 03 · VISUAL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6565392" y="3739896"/>
            <a:ext cx="41970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Visualping Screenshot Diff</a:t>
            </a:r>
            <a:endParaRPr lang="en-US" sz="1040" dirty="0"/>
          </a:p>
        </p:txBody>
      </p:sp>
      <p:sp>
        <p:nvSpPr>
          <p:cNvPr id="43" name="Text 40"/>
          <p:cNvSpPr/>
          <p:nvPr/>
        </p:nvSpPr>
        <p:spPr>
          <a:xfrm>
            <a:off x="6565392" y="4050792"/>
            <a:ext cx="4197096" cy="-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Confirms overlay anomaly even when DOM appears unchanged</a:t>
            </a:r>
            <a:endParaRPr lang="en-US" sz="740" dirty="0"/>
          </a:p>
        </p:txBody>
      </p:sp>
      <p:sp>
        <p:nvSpPr>
          <p:cNvPr id="44" name="Shape 41"/>
          <p:cNvSpPr/>
          <p:nvPr/>
        </p:nvSpPr>
        <p:spPr>
          <a:xfrm>
            <a:off x="6400800" y="4443984"/>
            <a:ext cx="4526280" cy="804672"/>
          </a:xfrm>
          <a:prstGeom prst="roundRect">
            <a:avLst>
              <a:gd name="adj" fmla="val 9091"/>
            </a:avLst>
          </a:prstGeom>
          <a:solidFill>
            <a:srgbClr val="EEF4FF"/>
          </a:solidFill>
          <a:ln w="12700">
            <a:solidFill>
              <a:srgbClr val="C8D8F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0800" y="4443984"/>
            <a:ext cx="32004" cy="804672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01968" y="4572000"/>
            <a:ext cx="41605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PRINCIPLE</a:t>
            </a:r>
            <a:endParaRPr lang="en-US" sz="680" dirty="0"/>
          </a:p>
        </p:txBody>
      </p:sp>
      <p:sp>
        <p:nvSpPr>
          <p:cNvPr id="47" name="Text 44"/>
          <p:cNvSpPr/>
          <p:nvPr/>
        </p:nvSpPr>
        <p:spPr>
          <a:xfrm>
            <a:off x="6601968" y="4791456"/>
            <a:ext cx="4123944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i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Attackers don't operate in layers you can see — they operate in layers you don't monitor.</a:t>
            </a:r>
            <a:endParaRPr lang="en-US" sz="1220" dirty="0"/>
          </a:p>
        </p:txBody>
      </p:sp>
      <p:sp>
        <p:nvSpPr>
          <p:cNvPr id="48" name="Shape 45"/>
          <p:cNvSpPr/>
          <p:nvPr/>
        </p:nvSpPr>
        <p:spPr>
          <a:xfrm>
            <a:off x="749808" y="6473952"/>
            <a:ext cx="10680192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49808" y="6556248"/>
            <a:ext cx="4572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TRUST INTEGRITY MONITORING SYSTEM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10744200" y="6556248"/>
            <a:ext cx="685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14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808" y="475488"/>
            <a:ext cx="5303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THE AI LIMITATION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749808" y="786384"/>
            <a:ext cx="9875520" cy="877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AI: Powerful Assistant,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Insufficient Guardian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749808" y="1755648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755648"/>
            <a:ext cx="4983480" cy="36576"/>
          </a:xfrm>
          <a:prstGeom prst="rect">
            <a:avLst/>
          </a:prstGeom>
          <a:solidFill>
            <a:srgbClr val="D94A38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920240"/>
            <a:ext cx="4654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LIMIT 01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914400" y="2139696"/>
            <a:ext cx="46542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Probabilistic Inference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65429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prompt yields different conclusions — unsuitable for incident evidence.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932688" y="257860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615184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AI SAYS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755648" y="2606040"/>
            <a:ext cx="1508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~78% likely changed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3447288" y="257860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0440" y="2615184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SOC NEEDS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4270248" y="2606040"/>
            <a:ext cx="12344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+ timestamp + geo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6144768" y="1755648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44768" y="1755648"/>
            <a:ext cx="4983480" cy="36576"/>
          </a:xfrm>
          <a:prstGeom prst="rect">
            <a:avLst/>
          </a:prstGeom>
          <a:solidFill>
            <a:srgbClr val="D94A38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1920240"/>
            <a:ext cx="4654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LIMIT 02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6309360" y="2139696"/>
            <a:ext cx="46542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Network Visibility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09360" y="2450592"/>
            <a:ext cx="465429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see DNS records, TTL values, or IPv6 route paths.</a:t>
            </a:r>
            <a:endParaRPr lang="en-US" sz="770" dirty="0"/>
          </a:p>
        </p:txBody>
      </p:sp>
      <p:sp>
        <p:nvSpPr>
          <p:cNvPr id="21" name="Shape 18"/>
          <p:cNvSpPr/>
          <p:nvPr/>
        </p:nvSpPr>
        <p:spPr>
          <a:xfrm>
            <a:off x="6327648" y="257860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2615184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AI SEES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7150608" y="2606040"/>
            <a:ext cx="1508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Rendered DOM only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8842248" y="2578608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15400" y="2615184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ATTACK AT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9665208" y="2606040"/>
            <a:ext cx="12344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/ IP / Network layer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749808" y="3236976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9808" y="3236976"/>
            <a:ext cx="4983480" cy="36576"/>
          </a:xfrm>
          <a:prstGeom prst="rect">
            <a:avLst/>
          </a:prstGeom>
          <a:solidFill>
            <a:srgbClr val="D94A38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3401568"/>
            <a:ext cx="4654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LIMIT 03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914400" y="3621024"/>
            <a:ext cx="46542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Deterministic Baseline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14400" y="3931920"/>
            <a:ext cx="465429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distinguish authorized CMS update from malicious defacement.</a:t>
            </a:r>
            <a:endParaRPr lang="en-US" sz="770" dirty="0"/>
          </a:p>
        </p:txBody>
      </p:sp>
      <p:sp>
        <p:nvSpPr>
          <p:cNvPr id="32" name="Shape 29"/>
          <p:cNvSpPr/>
          <p:nvPr/>
        </p:nvSpPr>
        <p:spPr>
          <a:xfrm>
            <a:off x="932688" y="4059936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05840" y="4096512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AI DOES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1755648" y="4087368"/>
            <a:ext cx="1508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Guess at importance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3447288" y="4059936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20440" y="4096512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 DO</a:t>
            </a:r>
            <a:endParaRPr lang="en-US" sz="680" dirty="0"/>
          </a:p>
        </p:txBody>
      </p:sp>
      <p:sp>
        <p:nvSpPr>
          <p:cNvPr id="37" name="Text 34"/>
          <p:cNvSpPr/>
          <p:nvPr/>
        </p:nvSpPr>
        <p:spPr>
          <a:xfrm>
            <a:off x="4270248" y="4087368"/>
            <a:ext cx="12344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Hash-pinned baselines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6144768" y="3236976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44768" y="3236976"/>
            <a:ext cx="4983480" cy="36576"/>
          </a:xfrm>
          <a:prstGeom prst="rect">
            <a:avLst/>
          </a:prstGeom>
          <a:solidFill>
            <a:srgbClr val="D94A38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09360" y="3401568"/>
            <a:ext cx="4654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LIMIT 04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6309360" y="3621024"/>
            <a:ext cx="46542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 Fatigue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309360" y="3931920"/>
            <a:ext cx="4654296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false-positive rate means SOC ignores real threats.</a:t>
            </a:r>
            <a:endParaRPr lang="en-US" sz="770" dirty="0"/>
          </a:p>
        </p:txBody>
      </p:sp>
      <p:sp>
        <p:nvSpPr>
          <p:cNvPr id="43" name="Shape 40"/>
          <p:cNvSpPr/>
          <p:nvPr/>
        </p:nvSpPr>
        <p:spPr>
          <a:xfrm>
            <a:off x="6327648" y="4059936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00800" y="4096512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7150608" y="4087368"/>
            <a:ext cx="15087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alerts buried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8842248" y="4059936"/>
            <a:ext cx="749808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915400" y="4096512"/>
            <a:ext cx="6035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FIX</a:t>
            </a:r>
            <a:endParaRPr lang="en-US" sz="680" dirty="0"/>
          </a:p>
        </p:txBody>
      </p:sp>
      <p:sp>
        <p:nvSpPr>
          <p:cNvPr id="48" name="Text 45"/>
          <p:cNvSpPr/>
          <p:nvPr/>
        </p:nvSpPr>
        <p:spPr>
          <a:xfrm>
            <a:off x="9665208" y="4087368"/>
            <a:ext cx="12344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evidence chain</a:t>
            </a:r>
            <a:endParaRPr lang="en-US" sz="700" dirty="0"/>
          </a:p>
        </p:txBody>
      </p:sp>
      <p:sp>
        <p:nvSpPr>
          <p:cNvPr id="49" name="Shape 46"/>
          <p:cNvSpPr/>
          <p:nvPr/>
        </p:nvSpPr>
        <p:spPr>
          <a:xfrm>
            <a:off x="960120" y="5102352"/>
            <a:ext cx="10149840" cy="713232"/>
          </a:xfrm>
          <a:prstGeom prst="roundRect">
            <a:avLst>
              <a:gd name="adj" fmla="val 10256"/>
            </a:avLst>
          </a:prstGeom>
          <a:solidFill>
            <a:srgbClr val="EEF4FF"/>
          </a:solidFill>
          <a:ln w="12700">
            <a:solidFill>
              <a:srgbClr val="C8D8F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60120" y="5102352"/>
            <a:ext cx="32004" cy="713232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61288" y="5230368"/>
            <a:ext cx="97840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PRINCIPLE</a:t>
            </a:r>
            <a:endParaRPr lang="en-US" sz="680" dirty="0"/>
          </a:p>
        </p:txBody>
      </p:sp>
      <p:sp>
        <p:nvSpPr>
          <p:cNvPr id="52" name="Text 49"/>
          <p:cNvSpPr/>
          <p:nvPr/>
        </p:nvSpPr>
        <p:spPr>
          <a:xfrm>
            <a:off x="1161288" y="5449824"/>
            <a:ext cx="974750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i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"AI tells you 'something might be wrong.' Security Operations needs 'something is wrong, and here is the evidence.'"</a:t>
            </a:r>
            <a:endParaRPr lang="en-US" sz="1220" dirty="0"/>
          </a:p>
        </p:txBody>
      </p:sp>
      <p:sp>
        <p:nvSpPr>
          <p:cNvPr id="53" name="Shape 50"/>
          <p:cNvSpPr/>
          <p:nvPr/>
        </p:nvSpPr>
        <p:spPr>
          <a:xfrm>
            <a:off x="749808" y="6473952"/>
            <a:ext cx="10680192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49808" y="6556248"/>
            <a:ext cx="4572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TRUST INTEGRITY MONITORING SYSTEM</a:t>
            </a:r>
            <a:endParaRPr lang="en-US" sz="650" dirty="0"/>
          </a:p>
        </p:txBody>
      </p:sp>
      <p:sp>
        <p:nvSpPr>
          <p:cNvPr id="55" name="Text 52"/>
          <p:cNvSpPr/>
          <p:nvPr/>
        </p:nvSpPr>
        <p:spPr>
          <a:xfrm>
            <a:off x="10744200" y="6556248"/>
            <a:ext cx="685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 / 14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808" y="475488"/>
            <a:ext cx="5303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CAPABILITY MATRIX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749808" y="786384"/>
            <a:ext cx="98755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AI-Only vs DIY vs Enterprise Platform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749808" y="1481328"/>
            <a:ext cx="2995574" cy="393192"/>
          </a:xfrm>
          <a:prstGeom prst="rect">
            <a:avLst/>
          </a:prstGeom>
          <a:solidFill>
            <a:srgbClr val="0F172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5528" y="1545336"/>
            <a:ext cx="290413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Capability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3745382" y="1481328"/>
            <a:ext cx="2353666" cy="393192"/>
          </a:xfrm>
          <a:prstGeom prst="rect">
            <a:avLst/>
          </a:prstGeom>
          <a:solidFill>
            <a:srgbClr val="0F172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91102" y="1545336"/>
            <a:ext cx="226222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AI-Only Tools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6099048" y="1481328"/>
            <a:ext cx="2567635" cy="393192"/>
          </a:xfrm>
          <a:prstGeom prst="rect">
            <a:avLst/>
          </a:prstGeom>
          <a:solidFill>
            <a:srgbClr val="0F172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4768" y="1545336"/>
            <a:ext cx="247619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DIY / Open Source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8666683" y="1481328"/>
            <a:ext cx="2781605" cy="393192"/>
          </a:xfrm>
          <a:prstGeom prst="rect">
            <a:avLst/>
          </a:prstGeom>
          <a:solidFill>
            <a:srgbClr val="0F172A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12403" y="1545336"/>
            <a:ext cx="269016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Site24x7 + Visualping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749808" y="1874520"/>
            <a:ext cx="2995574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" y="1938528"/>
            <a:ext cx="290413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Detection type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3745382" y="1874520"/>
            <a:ext cx="235366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91102" y="1938528"/>
            <a:ext cx="226222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Probabilistic</a:t>
            </a:r>
            <a:endParaRPr lang="en-US" sz="760" dirty="0"/>
          </a:p>
        </p:txBody>
      </p:sp>
      <p:sp>
        <p:nvSpPr>
          <p:cNvPr id="17" name="Shape 14"/>
          <p:cNvSpPr/>
          <p:nvPr/>
        </p:nvSpPr>
        <p:spPr>
          <a:xfrm>
            <a:off x="6099048" y="1874520"/>
            <a:ext cx="256763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44768" y="1938528"/>
            <a:ext cx="247619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Deterministic, limited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8666683" y="1874520"/>
            <a:ext cx="278160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12403" y="1938528"/>
            <a:ext cx="269016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089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Deterministic + AI-enhanced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749808" y="2267712"/>
            <a:ext cx="2995574" cy="393192"/>
          </a:xfrm>
          <a:prstGeom prst="rect">
            <a:avLst/>
          </a:prstGeom>
          <a:solidFill>
            <a:srgbClr val="F4F7FB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" y="2331720"/>
            <a:ext cx="290413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validation (A/AAAA/MX)</a:t>
            </a:r>
            <a:endParaRPr lang="en-US" sz="760" dirty="0"/>
          </a:p>
        </p:txBody>
      </p:sp>
      <p:sp>
        <p:nvSpPr>
          <p:cNvPr id="23" name="Shape 20"/>
          <p:cNvSpPr/>
          <p:nvPr/>
        </p:nvSpPr>
        <p:spPr>
          <a:xfrm>
            <a:off x="3745382" y="2267712"/>
            <a:ext cx="2353666" cy="393192"/>
          </a:xfrm>
          <a:prstGeom prst="rect">
            <a:avLst/>
          </a:prstGeom>
          <a:solidFill>
            <a:srgbClr val="F4F7FB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91102" y="2331720"/>
            <a:ext cx="226222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760" dirty="0"/>
          </a:p>
        </p:txBody>
      </p:sp>
      <p:sp>
        <p:nvSpPr>
          <p:cNvPr id="25" name="Shape 22"/>
          <p:cNvSpPr/>
          <p:nvPr/>
        </p:nvSpPr>
        <p:spPr>
          <a:xfrm>
            <a:off x="6099048" y="2267712"/>
            <a:ext cx="2567635" cy="393192"/>
          </a:xfrm>
          <a:prstGeom prst="rect">
            <a:avLst/>
          </a:prstGeom>
          <a:solidFill>
            <a:srgbClr val="F4F7FB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44768" y="2331720"/>
            <a:ext cx="247619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A4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Self-built</a:t>
            </a:r>
            <a:endParaRPr lang="en-US" sz="760" dirty="0"/>
          </a:p>
        </p:txBody>
      </p:sp>
      <p:sp>
        <p:nvSpPr>
          <p:cNvPr id="27" name="Shape 24"/>
          <p:cNvSpPr/>
          <p:nvPr/>
        </p:nvSpPr>
        <p:spPr>
          <a:xfrm>
            <a:off x="8666683" y="2267712"/>
            <a:ext cx="2781605" cy="393192"/>
          </a:xfrm>
          <a:prstGeom prst="rect">
            <a:avLst/>
          </a:prstGeom>
          <a:solidFill>
            <a:srgbClr val="F4F7FB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12403" y="2331720"/>
            <a:ext cx="269016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089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130+ locations</a:t>
            </a:r>
            <a:endParaRPr lang="en-US" sz="760" dirty="0"/>
          </a:p>
        </p:txBody>
      </p:sp>
      <p:sp>
        <p:nvSpPr>
          <p:cNvPr id="29" name="Shape 26"/>
          <p:cNvSpPr/>
          <p:nvPr/>
        </p:nvSpPr>
        <p:spPr>
          <a:xfrm>
            <a:off x="749808" y="2660904"/>
            <a:ext cx="2995574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" y="2724912"/>
            <a:ext cx="290413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IPv4/IPv6 dual-stack</a:t>
            </a:r>
            <a:endParaRPr lang="en-US" sz="760" dirty="0"/>
          </a:p>
        </p:txBody>
      </p:sp>
      <p:sp>
        <p:nvSpPr>
          <p:cNvPr id="31" name="Shape 28"/>
          <p:cNvSpPr/>
          <p:nvPr/>
        </p:nvSpPr>
        <p:spPr>
          <a:xfrm>
            <a:off x="3745382" y="2660904"/>
            <a:ext cx="235366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791102" y="2724912"/>
            <a:ext cx="226222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760" dirty="0"/>
          </a:p>
        </p:txBody>
      </p:sp>
      <p:sp>
        <p:nvSpPr>
          <p:cNvPr id="33" name="Shape 30"/>
          <p:cNvSpPr/>
          <p:nvPr/>
        </p:nvSpPr>
        <p:spPr>
          <a:xfrm>
            <a:off x="6099048" y="2660904"/>
            <a:ext cx="256763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44768" y="2724912"/>
            <a:ext cx="247619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A4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Proxy fleet needed</a:t>
            </a:r>
            <a:endParaRPr lang="en-US" sz="760" dirty="0"/>
          </a:p>
        </p:txBody>
      </p:sp>
      <p:sp>
        <p:nvSpPr>
          <p:cNvPr id="35" name="Shape 32"/>
          <p:cNvSpPr/>
          <p:nvPr/>
        </p:nvSpPr>
        <p:spPr>
          <a:xfrm>
            <a:off x="8666683" y="2660904"/>
            <a:ext cx="278160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712403" y="2724912"/>
            <a:ext cx="269016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089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Auto-fallback</a:t>
            </a:r>
            <a:endParaRPr lang="en-US" sz="760" dirty="0"/>
          </a:p>
        </p:txBody>
      </p:sp>
      <p:sp>
        <p:nvSpPr>
          <p:cNvPr id="37" name="Shape 34"/>
          <p:cNvSpPr/>
          <p:nvPr/>
        </p:nvSpPr>
        <p:spPr>
          <a:xfrm>
            <a:off x="749808" y="3054096"/>
            <a:ext cx="2995574" cy="393192"/>
          </a:xfrm>
          <a:prstGeom prst="rect">
            <a:avLst/>
          </a:prstGeom>
          <a:solidFill>
            <a:srgbClr val="F4F7FB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5528" y="3118104"/>
            <a:ext cx="290413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Audit-ready evidence</a:t>
            </a:r>
            <a:endParaRPr lang="en-US" sz="760" dirty="0"/>
          </a:p>
        </p:txBody>
      </p:sp>
      <p:sp>
        <p:nvSpPr>
          <p:cNvPr id="39" name="Shape 36"/>
          <p:cNvSpPr/>
          <p:nvPr/>
        </p:nvSpPr>
        <p:spPr>
          <a:xfrm>
            <a:off x="3745382" y="3054096"/>
            <a:ext cx="2353666" cy="393192"/>
          </a:xfrm>
          <a:prstGeom prst="rect">
            <a:avLst/>
          </a:prstGeom>
          <a:solidFill>
            <a:srgbClr val="F4F7FB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791102" y="3118104"/>
            <a:ext cx="226222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760" dirty="0"/>
          </a:p>
        </p:txBody>
      </p:sp>
      <p:sp>
        <p:nvSpPr>
          <p:cNvPr id="41" name="Shape 38"/>
          <p:cNvSpPr/>
          <p:nvPr/>
        </p:nvSpPr>
        <p:spPr>
          <a:xfrm>
            <a:off x="6099048" y="3054096"/>
            <a:ext cx="2567635" cy="393192"/>
          </a:xfrm>
          <a:prstGeom prst="rect">
            <a:avLst/>
          </a:prstGeom>
          <a:solidFill>
            <a:srgbClr val="F4F7FB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144768" y="3118104"/>
            <a:ext cx="247619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Self-managed logs</a:t>
            </a:r>
            <a:endParaRPr lang="en-US" sz="760" dirty="0"/>
          </a:p>
        </p:txBody>
      </p:sp>
      <p:sp>
        <p:nvSpPr>
          <p:cNvPr id="43" name="Shape 40"/>
          <p:cNvSpPr/>
          <p:nvPr/>
        </p:nvSpPr>
        <p:spPr>
          <a:xfrm>
            <a:off x="8666683" y="3054096"/>
            <a:ext cx="2781605" cy="393192"/>
          </a:xfrm>
          <a:prstGeom prst="rect">
            <a:avLst/>
          </a:prstGeom>
          <a:solidFill>
            <a:srgbClr val="F4F7FB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712403" y="3118104"/>
            <a:ext cx="269016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089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Timestamped + attested</a:t>
            </a:r>
            <a:endParaRPr lang="en-US" sz="760" dirty="0"/>
          </a:p>
        </p:txBody>
      </p:sp>
      <p:sp>
        <p:nvSpPr>
          <p:cNvPr id="45" name="Shape 42"/>
          <p:cNvSpPr/>
          <p:nvPr/>
        </p:nvSpPr>
        <p:spPr>
          <a:xfrm>
            <a:off x="749808" y="3447288"/>
            <a:ext cx="2995574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95528" y="3511296"/>
            <a:ext cx="290413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SLA-backed availability</a:t>
            </a:r>
            <a:endParaRPr lang="en-US" sz="760" dirty="0"/>
          </a:p>
        </p:txBody>
      </p:sp>
      <p:sp>
        <p:nvSpPr>
          <p:cNvPr id="47" name="Shape 44"/>
          <p:cNvSpPr/>
          <p:nvPr/>
        </p:nvSpPr>
        <p:spPr>
          <a:xfrm>
            <a:off x="3745382" y="3447288"/>
            <a:ext cx="235366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791102" y="3511296"/>
            <a:ext cx="226222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760" dirty="0"/>
          </a:p>
        </p:txBody>
      </p:sp>
      <p:sp>
        <p:nvSpPr>
          <p:cNvPr id="49" name="Shape 46"/>
          <p:cNvSpPr/>
          <p:nvPr/>
        </p:nvSpPr>
        <p:spPr>
          <a:xfrm>
            <a:off x="6099048" y="3447288"/>
            <a:ext cx="256763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144768" y="3511296"/>
            <a:ext cx="247619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You own it</a:t>
            </a:r>
            <a:endParaRPr lang="en-US" sz="760" dirty="0"/>
          </a:p>
        </p:txBody>
      </p:sp>
      <p:sp>
        <p:nvSpPr>
          <p:cNvPr id="51" name="Shape 48"/>
          <p:cNvSpPr/>
          <p:nvPr/>
        </p:nvSpPr>
        <p:spPr>
          <a:xfrm>
            <a:off x="8666683" y="3447288"/>
            <a:ext cx="278160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712403" y="3511296"/>
            <a:ext cx="269016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089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99.99% uptime</a:t>
            </a:r>
            <a:endParaRPr lang="en-US" sz="760" dirty="0"/>
          </a:p>
        </p:txBody>
      </p:sp>
      <p:sp>
        <p:nvSpPr>
          <p:cNvPr id="53" name="Shape 50"/>
          <p:cNvSpPr/>
          <p:nvPr/>
        </p:nvSpPr>
        <p:spPr>
          <a:xfrm>
            <a:off x="749808" y="3840480"/>
            <a:ext cx="2995574" cy="393192"/>
          </a:xfrm>
          <a:prstGeom prst="rect">
            <a:avLst/>
          </a:prstGeom>
          <a:solidFill>
            <a:srgbClr val="F4F7FB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95528" y="3904488"/>
            <a:ext cx="2904134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 integration</a:t>
            </a:r>
            <a:endParaRPr lang="en-US" sz="760" dirty="0"/>
          </a:p>
        </p:txBody>
      </p:sp>
      <p:sp>
        <p:nvSpPr>
          <p:cNvPr id="55" name="Shape 52"/>
          <p:cNvSpPr/>
          <p:nvPr/>
        </p:nvSpPr>
        <p:spPr>
          <a:xfrm>
            <a:off x="3745382" y="3840480"/>
            <a:ext cx="2353666" cy="393192"/>
          </a:xfrm>
          <a:prstGeom prst="rect">
            <a:avLst/>
          </a:prstGeom>
          <a:solidFill>
            <a:srgbClr val="F4F7FB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791102" y="3904488"/>
            <a:ext cx="226222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A4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Webhook only</a:t>
            </a:r>
            <a:endParaRPr lang="en-US" sz="760" dirty="0"/>
          </a:p>
        </p:txBody>
      </p:sp>
      <p:sp>
        <p:nvSpPr>
          <p:cNvPr id="57" name="Shape 54"/>
          <p:cNvSpPr/>
          <p:nvPr/>
        </p:nvSpPr>
        <p:spPr>
          <a:xfrm>
            <a:off x="6099048" y="3840480"/>
            <a:ext cx="2567635" cy="393192"/>
          </a:xfrm>
          <a:prstGeom prst="rect">
            <a:avLst/>
          </a:prstGeom>
          <a:solidFill>
            <a:srgbClr val="F4F7FB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144768" y="3904488"/>
            <a:ext cx="247619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A46F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 Self-parse</a:t>
            </a:r>
            <a:endParaRPr lang="en-US" sz="760" dirty="0"/>
          </a:p>
        </p:txBody>
      </p:sp>
      <p:sp>
        <p:nvSpPr>
          <p:cNvPr id="59" name="Shape 56"/>
          <p:cNvSpPr/>
          <p:nvPr/>
        </p:nvSpPr>
        <p:spPr>
          <a:xfrm>
            <a:off x="8666683" y="3840480"/>
            <a:ext cx="2781605" cy="393192"/>
          </a:xfrm>
          <a:prstGeom prst="rect">
            <a:avLst/>
          </a:prstGeom>
          <a:solidFill>
            <a:srgbClr val="F4F7FB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712403" y="3904488"/>
            <a:ext cx="2690165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089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ServiceNow + PagerDuty</a:t>
            </a:r>
            <a:endParaRPr lang="en-US" sz="760" dirty="0"/>
          </a:p>
        </p:txBody>
      </p:sp>
      <p:sp>
        <p:nvSpPr>
          <p:cNvPr id="61" name="Shape 58"/>
          <p:cNvSpPr/>
          <p:nvPr/>
        </p:nvSpPr>
        <p:spPr>
          <a:xfrm>
            <a:off x="749808" y="4882896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32688" y="5047488"/>
            <a:ext cx="12344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THE CLOSER</a:t>
            </a:r>
            <a:endParaRPr lang="en-US" sz="680" dirty="0"/>
          </a:p>
        </p:txBody>
      </p:sp>
      <p:sp>
        <p:nvSpPr>
          <p:cNvPr id="63" name="Text 60"/>
          <p:cNvSpPr/>
          <p:nvPr/>
        </p:nvSpPr>
        <p:spPr>
          <a:xfrm>
            <a:off x="2121408" y="4992624"/>
            <a:ext cx="2788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Who's accountable when it fails?</a:t>
            </a:r>
            <a:endParaRPr lang="en-US" sz="1250" dirty="0"/>
          </a:p>
        </p:txBody>
      </p:sp>
      <p:sp>
        <p:nvSpPr>
          <p:cNvPr id="64" name="Text 61"/>
          <p:cNvSpPr/>
          <p:nvPr/>
        </p:nvSpPr>
        <p:spPr>
          <a:xfrm>
            <a:off x="5230368" y="5010912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1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Nobody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6656832" y="5010912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1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You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8394192" y="5010912"/>
            <a:ext cx="12344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E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Vendor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960120" y="5779008"/>
            <a:ext cx="10149840" cy="475488"/>
          </a:xfrm>
          <a:prstGeom prst="roundRect">
            <a:avLst>
              <a:gd name="adj" fmla="val 15385"/>
            </a:avLst>
          </a:prstGeom>
          <a:solidFill>
            <a:srgbClr val="EEF4FF"/>
          </a:solidFill>
          <a:ln w="12700">
            <a:solidFill>
              <a:srgbClr val="C8D8F5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960120" y="5779008"/>
            <a:ext cx="32004" cy="475488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161288" y="5907024"/>
            <a:ext cx="97840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PRINCIPLE</a:t>
            </a:r>
            <a:endParaRPr lang="en-US" sz="680" dirty="0"/>
          </a:p>
        </p:txBody>
      </p:sp>
      <p:sp>
        <p:nvSpPr>
          <p:cNvPr id="70" name="Text 67"/>
          <p:cNvSpPr/>
          <p:nvPr/>
        </p:nvSpPr>
        <p:spPr>
          <a:xfrm>
            <a:off x="1161288" y="6126480"/>
            <a:ext cx="9747504" cy="36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i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"Security needs certainty, operational resilience, and auditability — not just probability."</a:t>
            </a:r>
            <a:endParaRPr lang="en-US" sz="1220" dirty="0"/>
          </a:p>
        </p:txBody>
      </p:sp>
      <p:sp>
        <p:nvSpPr>
          <p:cNvPr id="71" name="Shape 68"/>
          <p:cNvSpPr/>
          <p:nvPr/>
        </p:nvSpPr>
        <p:spPr>
          <a:xfrm>
            <a:off x="749808" y="6473952"/>
            <a:ext cx="10680192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49808" y="6556248"/>
            <a:ext cx="4572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TRUST INTEGRITY MONITORING SYSTEM</a:t>
            </a:r>
            <a:endParaRPr lang="en-US" sz="650" dirty="0"/>
          </a:p>
        </p:txBody>
      </p:sp>
      <p:sp>
        <p:nvSpPr>
          <p:cNvPr id="73" name="Text 70"/>
          <p:cNvSpPr/>
          <p:nvPr/>
        </p:nvSpPr>
        <p:spPr>
          <a:xfrm>
            <a:off x="10744200" y="6556248"/>
            <a:ext cx="685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 / 14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808" y="475488"/>
            <a:ext cx="5303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SYSTEM ARCHITECTURE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749808" y="786384"/>
            <a:ext cx="98755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Layer Answers a Different Question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1234440" y="1417320"/>
            <a:ext cx="9738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17320" y="1527048"/>
            <a:ext cx="3200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L1</a:t>
            </a:r>
            <a:endParaRPr lang="en-US" sz="670" dirty="0"/>
          </a:p>
        </p:txBody>
      </p:sp>
      <p:sp>
        <p:nvSpPr>
          <p:cNvPr id="7" name="Text 4"/>
          <p:cNvSpPr/>
          <p:nvPr/>
        </p:nvSpPr>
        <p:spPr>
          <a:xfrm>
            <a:off x="1920240" y="1499616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Layer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3611880" y="1499616"/>
            <a:ext cx="33832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"Am I talking to the right server?"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269480" y="1499616"/>
            <a:ext cx="2286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662672" y="1499616"/>
            <a:ext cx="2697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Site24x7 DNS Monitor</a:t>
            </a:r>
            <a:endParaRPr lang="en-US" sz="810" dirty="0"/>
          </a:p>
        </p:txBody>
      </p:sp>
      <p:sp>
        <p:nvSpPr>
          <p:cNvPr id="11" name="Shape 8"/>
          <p:cNvSpPr/>
          <p:nvPr/>
        </p:nvSpPr>
        <p:spPr>
          <a:xfrm>
            <a:off x="1234440" y="1938528"/>
            <a:ext cx="9738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17320" y="2048256"/>
            <a:ext cx="3200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L2</a:t>
            </a:r>
            <a:endParaRPr lang="en-US" sz="670" dirty="0"/>
          </a:p>
        </p:txBody>
      </p:sp>
      <p:sp>
        <p:nvSpPr>
          <p:cNvPr id="13" name="Text 10"/>
          <p:cNvSpPr/>
          <p:nvPr/>
        </p:nvSpPr>
        <p:spPr>
          <a:xfrm>
            <a:off x="1920240" y="2020824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Layer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3611880" y="2020824"/>
            <a:ext cx="33832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"Am I reaching it the same way users do?"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269480" y="2020824"/>
            <a:ext cx="2286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662672" y="2020824"/>
            <a:ext cx="2697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Dual-Stack IPv4 / IPv6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1234440" y="2459736"/>
            <a:ext cx="9738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17320" y="2569464"/>
            <a:ext cx="3200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L3</a:t>
            </a:r>
            <a:endParaRPr lang="en-US" sz="670" dirty="0"/>
          </a:p>
        </p:txBody>
      </p:sp>
      <p:sp>
        <p:nvSpPr>
          <p:cNvPr id="19" name="Text 16"/>
          <p:cNvSpPr/>
          <p:nvPr/>
        </p:nvSpPr>
        <p:spPr>
          <a:xfrm>
            <a:off x="1920240" y="2542032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Layer</a:t>
            </a:r>
            <a:endParaRPr lang="en-US" sz="830" dirty="0"/>
          </a:p>
        </p:txBody>
      </p:sp>
      <p:sp>
        <p:nvSpPr>
          <p:cNvPr id="20" name="Text 17"/>
          <p:cNvSpPr/>
          <p:nvPr/>
        </p:nvSpPr>
        <p:spPr>
          <a:xfrm>
            <a:off x="3611880" y="2542032"/>
            <a:ext cx="33832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"Is the connection secure and performant?"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269480" y="2542032"/>
            <a:ext cx="2286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662672" y="2542032"/>
            <a:ext cx="2697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Monitor + SSL Probe</a:t>
            </a:r>
            <a:endParaRPr lang="en-US" sz="810" dirty="0"/>
          </a:p>
        </p:txBody>
      </p:sp>
      <p:sp>
        <p:nvSpPr>
          <p:cNvPr id="23" name="Shape 20"/>
          <p:cNvSpPr/>
          <p:nvPr/>
        </p:nvSpPr>
        <p:spPr>
          <a:xfrm>
            <a:off x="1234440" y="2980944"/>
            <a:ext cx="9738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17320" y="3090672"/>
            <a:ext cx="3200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L4</a:t>
            </a:r>
            <a:endParaRPr lang="en-US" sz="670" dirty="0"/>
          </a:p>
        </p:txBody>
      </p:sp>
      <p:sp>
        <p:nvSpPr>
          <p:cNvPr id="25" name="Text 22"/>
          <p:cNvSpPr/>
          <p:nvPr/>
        </p:nvSpPr>
        <p:spPr>
          <a:xfrm>
            <a:off x="1920240" y="3063240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</a:t>
            </a:r>
            <a:endParaRPr lang="en-US" sz="830" dirty="0"/>
          </a:p>
        </p:txBody>
      </p:sp>
      <p:sp>
        <p:nvSpPr>
          <p:cNvPr id="26" name="Text 23"/>
          <p:cNvSpPr/>
          <p:nvPr/>
        </p:nvSpPr>
        <p:spPr>
          <a:xfrm>
            <a:off x="3611880" y="3063240"/>
            <a:ext cx="33832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"Has anything been modified?"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269480" y="3063240"/>
            <a:ext cx="2286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662672" y="3063240"/>
            <a:ext cx="2697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Defacement Monitor (DOM hash)</a:t>
            </a:r>
            <a:endParaRPr lang="en-US" sz="810" dirty="0"/>
          </a:p>
        </p:txBody>
      </p:sp>
      <p:sp>
        <p:nvSpPr>
          <p:cNvPr id="29" name="Shape 26"/>
          <p:cNvSpPr/>
          <p:nvPr/>
        </p:nvSpPr>
        <p:spPr>
          <a:xfrm>
            <a:off x="1234440" y="3502152"/>
            <a:ext cx="9738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417320" y="3611880"/>
            <a:ext cx="3200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L5</a:t>
            </a:r>
            <a:endParaRPr lang="en-US" sz="670" dirty="0"/>
          </a:p>
        </p:txBody>
      </p:sp>
      <p:sp>
        <p:nvSpPr>
          <p:cNvPr id="31" name="Text 28"/>
          <p:cNvSpPr/>
          <p:nvPr/>
        </p:nvSpPr>
        <p:spPr>
          <a:xfrm>
            <a:off x="1920240" y="3584448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Layer</a:t>
            </a:r>
            <a:endParaRPr lang="en-US" sz="830" dirty="0"/>
          </a:p>
        </p:txBody>
      </p:sp>
      <p:sp>
        <p:nvSpPr>
          <p:cNvPr id="32" name="Text 29"/>
          <p:cNvSpPr/>
          <p:nvPr/>
        </p:nvSpPr>
        <p:spPr>
          <a:xfrm>
            <a:off x="3611880" y="3584448"/>
            <a:ext cx="33832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"What do users actually see?"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269480" y="3584448"/>
            <a:ext cx="2286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662672" y="3584448"/>
            <a:ext cx="2697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Visualping Screenshot Diff</a:t>
            </a:r>
            <a:endParaRPr lang="en-US" sz="810" dirty="0"/>
          </a:p>
        </p:txBody>
      </p:sp>
      <p:sp>
        <p:nvSpPr>
          <p:cNvPr id="35" name="Shape 32"/>
          <p:cNvSpPr/>
          <p:nvPr/>
        </p:nvSpPr>
        <p:spPr>
          <a:xfrm>
            <a:off x="1234440" y="4023360"/>
            <a:ext cx="9738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417320" y="4133088"/>
            <a:ext cx="3200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L6</a:t>
            </a:r>
            <a:endParaRPr lang="en-US" sz="670" dirty="0"/>
          </a:p>
        </p:txBody>
      </p:sp>
      <p:sp>
        <p:nvSpPr>
          <p:cNvPr id="37" name="Text 34"/>
          <p:cNvSpPr/>
          <p:nvPr/>
        </p:nvSpPr>
        <p:spPr>
          <a:xfrm>
            <a:off x="1920240" y="4105656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Layer · Overlay</a:t>
            </a:r>
            <a:endParaRPr lang="en-US" sz="830" dirty="0"/>
          </a:p>
        </p:txBody>
      </p:sp>
      <p:sp>
        <p:nvSpPr>
          <p:cNvPr id="38" name="Text 35"/>
          <p:cNvSpPr/>
          <p:nvPr/>
        </p:nvSpPr>
        <p:spPr>
          <a:xfrm>
            <a:off x="3611880" y="4105656"/>
            <a:ext cx="33832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"Is this anomaly important or noise?"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269480" y="4105656"/>
            <a:ext cx="2286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662672" y="4105656"/>
            <a:ext cx="2697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AIOps + Semantic Filter</a:t>
            </a:r>
            <a:endParaRPr lang="en-US" sz="810" dirty="0"/>
          </a:p>
        </p:txBody>
      </p:sp>
      <p:sp>
        <p:nvSpPr>
          <p:cNvPr id="41" name="Shape 38"/>
          <p:cNvSpPr/>
          <p:nvPr/>
        </p:nvSpPr>
        <p:spPr>
          <a:xfrm>
            <a:off x="1234440" y="4956048"/>
            <a:ext cx="9738360" cy="713232"/>
          </a:xfrm>
          <a:prstGeom prst="roundRect">
            <a:avLst>
              <a:gd name="adj" fmla="val 10256"/>
            </a:avLst>
          </a:prstGeom>
          <a:solidFill>
            <a:srgbClr val="EEF4FF"/>
          </a:solidFill>
          <a:ln w="12700">
            <a:solidFill>
              <a:srgbClr val="C8D8F5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234440" y="4956048"/>
            <a:ext cx="32004" cy="713232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435608" y="5084064"/>
            <a:ext cx="93726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PRINCIPLE</a:t>
            </a:r>
            <a:endParaRPr lang="en-US" sz="680" dirty="0"/>
          </a:p>
        </p:txBody>
      </p:sp>
      <p:sp>
        <p:nvSpPr>
          <p:cNvPr id="44" name="Text 41"/>
          <p:cNvSpPr/>
          <p:nvPr/>
        </p:nvSpPr>
        <p:spPr>
          <a:xfrm>
            <a:off x="1435608" y="5303520"/>
            <a:ext cx="93360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i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"Each layer answers a different question. Only together do they answer: Is my web presence trustworthy?"</a:t>
            </a:r>
            <a:endParaRPr lang="en-US" sz="1220" dirty="0"/>
          </a:p>
        </p:txBody>
      </p:sp>
      <p:sp>
        <p:nvSpPr>
          <p:cNvPr id="45" name="Shape 42"/>
          <p:cNvSpPr/>
          <p:nvPr/>
        </p:nvSpPr>
        <p:spPr>
          <a:xfrm>
            <a:off x="749808" y="6473952"/>
            <a:ext cx="10680192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9808" y="6556248"/>
            <a:ext cx="4572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TRUST INTEGRITY MONITORING SYSTEM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10744200" y="6556248"/>
            <a:ext cx="685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 / 14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808" y="475488"/>
            <a:ext cx="5303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DEPLOYMENT SPEC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749808" y="786384"/>
            <a:ext cx="98755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Actually Deploy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68680" y="1444752"/>
            <a:ext cx="10424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1572768"/>
            <a:ext cx="34747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600200" y="1554480"/>
            <a:ext cx="9875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DNS</a:t>
            </a:r>
            <a:endParaRPr lang="en-US" sz="820" dirty="0"/>
          </a:p>
        </p:txBody>
      </p:sp>
      <p:sp>
        <p:nvSpPr>
          <p:cNvPr id="8" name="Shape 5"/>
          <p:cNvSpPr/>
          <p:nvPr/>
        </p:nvSpPr>
        <p:spPr>
          <a:xfrm>
            <a:off x="2816352" y="1554480"/>
            <a:ext cx="841248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89504" y="1591056"/>
            <a:ext cx="6949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SITE24X7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3858768" y="1554480"/>
            <a:ext cx="45720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/ AAAA record validation, 130+ geo-distributed probes.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823960" y="1508760"/>
            <a:ext cx="7315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FREQUENCY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9601200" y="1554480"/>
            <a:ext cx="11430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1–5 min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68680" y="2066544"/>
            <a:ext cx="10424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2194560"/>
            <a:ext cx="34747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L2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1600200" y="2176272"/>
            <a:ext cx="9875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NETWORK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2816352" y="2176272"/>
            <a:ext cx="841248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89504" y="2212848"/>
            <a:ext cx="6949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SITE24X7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3858768" y="2176272"/>
            <a:ext cx="45720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IPv4 / IPv6 dual-stack with auto protocol fallback.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823960" y="2130552"/>
            <a:ext cx="7315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FREQUENCY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9601200" y="2176272"/>
            <a:ext cx="11430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1–10 min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68680" y="2688336"/>
            <a:ext cx="10424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2816352"/>
            <a:ext cx="34747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L4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600200" y="2798064"/>
            <a:ext cx="9875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CONTENT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2816352" y="2798064"/>
            <a:ext cx="841248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889504" y="2834640"/>
            <a:ext cx="6949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SITE24X7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3858768" y="2798064"/>
            <a:ext cx="45720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DOM hash comparison, text/script modification percentage.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823960" y="2752344"/>
            <a:ext cx="7315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FREQUENCY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9601200" y="2798064"/>
            <a:ext cx="11430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1–10 min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68680" y="3310128"/>
            <a:ext cx="10424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51560" y="3438144"/>
            <a:ext cx="34747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L5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1600200" y="3419856"/>
            <a:ext cx="9875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7203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VISUAL</a:t>
            </a:r>
            <a:endParaRPr lang="en-US" sz="820" dirty="0"/>
          </a:p>
        </p:txBody>
      </p:sp>
      <p:sp>
        <p:nvSpPr>
          <p:cNvPr id="32" name="Shape 29"/>
          <p:cNvSpPr/>
          <p:nvPr/>
        </p:nvSpPr>
        <p:spPr>
          <a:xfrm>
            <a:off x="2816352" y="3419856"/>
            <a:ext cx="841248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889504" y="3456432"/>
            <a:ext cx="6949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VISUALPING</a:t>
            </a:r>
            <a:endParaRPr lang="en-US" sz="680" dirty="0"/>
          </a:p>
        </p:txBody>
      </p:sp>
      <p:sp>
        <p:nvSpPr>
          <p:cNvPr id="34" name="Text 31"/>
          <p:cNvSpPr/>
          <p:nvPr/>
        </p:nvSpPr>
        <p:spPr>
          <a:xfrm>
            <a:off x="3858768" y="3419856"/>
            <a:ext cx="45720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diff + AI summary (IMPORTANT / NOT).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823960" y="3374136"/>
            <a:ext cx="7315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FREQUENCY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9601200" y="3419856"/>
            <a:ext cx="11430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2–15 min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868680" y="3931920"/>
            <a:ext cx="1042416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51560" y="4059936"/>
            <a:ext cx="347472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OUT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1600200" y="4041648"/>
            <a:ext cx="987552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ALERT</a:t>
            </a:r>
            <a:endParaRPr lang="en-US" sz="820" dirty="0"/>
          </a:p>
        </p:txBody>
      </p:sp>
      <p:sp>
        <p:nvSpPr>
          <p:cNvPr id="40" name="Shape 37"/>
          <p:cNvSpPr/>
          <p:nvPr/>
        </p:nvSpPr>
        <p:spPr>
          <a:xfrm>
            <a:off x="2816352" y="4041648"/>
            <a:ext cx="841248" cy="256032"/>
          </a:xfrm>
          <a:prstGeom prst="roundRect">
            <a:avLst>
              <a:gd name="adj" fmla="val 14286"/>
            </a:avLst>
          </a:prstGeom>
          <a:solidFill>
            <a:srgbClr val="1B2437"/>
          </a:solidFill>
          <a:ln w="12700">
            <a:solidFill>
              <a:srgbClr val="6F9C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889504" y="4078224"/>
            <a:ext cx="69494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BOTH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3858768" y="4041648"/>
            <a:ext cx="45720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SOAR integration, webhook, email, SMS push.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823960" y="3995928"/>
            <a:ext cx="7315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94A3B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FREQUENCY</a:t>
            </a:r>
            <a:endParaRPr lang="en-US" sz="550" dirty="0"/>
          </a:p>
        </p:txBody>
      </p:sp>
      <p:sp>
        <p:nvSpPr>
          <p:cNvPr id="44" name="Text 41"/>
          <p:cNvSpPr/>
          <p:nvPr/>
        </p:nvSpPr>
        <p:spPr>
          <a:xfrm>
            <a:off x="9601200" y="4041648"/>
            <a:ext cx="114300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F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868680" y="4956048"/>
            <a:ext cx="10424160" cy="749808"/>
          </a:xfrm>
          <a:prstGeom prst="roundRect">
            <a:avLst>
              <a:gd name="adj" fmla="val 9756"/>
            </a:avLst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51560" y="5102352"/>
            <a:ext cx="14173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⚠ THE BLIND SPOT</a:t>
            </a:r>
            <a:endParaRPr lang="en-US" sz="680" dirty="0"/>
          </a:p>
        </p:txBody>
      </p:sp>
      <p:sp>
        <p:nvSpPr>
          <p:cNvPr id="47" name="Text 44"/>
          <p:cNvSpPr/>
          <p:nvPr/>
        </p:nvSpPr>
        <p:spPr>
          <a:xfrm>
            <a:off x="2651760" y="5047488"/>
            <a:ext cx="7863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60" i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"IPv6 monitoring is not a future trend — it is a present attack surface. Attackers already use this path to bypass IPv4-only monitoring."</a:t>
            </a:r>
            <a:endParaRPr lang="en-US" sz="1060" dirty="0"/>
          </a:p>
        </p:txBody>
      </p:sp>
      <p:sp>
        <p:nvSpPr>
          <p:cNvPr id="48" name="Shape 45"/>
          <p:cNvSpPr/>
          <p:nvPr/>
        </p:nvSpPr>
        <p:spPr>
          <a:xfrm>
            <a:off x="749808" y="6473952"/>
            <a:ext cx="10680192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49808" y="6556248"/>
            <a:ext cx="4572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TRUST INTEGRITY MONITORING SYSTEM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10744200" y="6556248"/>
            <a:ext cx="685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 / 14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808" y="475488"/>
            <a:ext cx="5303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VISUAL DETECTION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749808" y="786384"/>
            <a:ext cx="98755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Rendering — Detecting What Matters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22960" y="1417320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▼ CSS OVERLAY ATTACK · LIVE EXAMPLE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841248" y="1691640"/>
            <a:ext cx="4480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691640"/>
            <a:ext cx="4480560" cy="256032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64792"/>
            <a:ext cx="13716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https://bank.gov.hk</a:t>
            </a:r>
            <a:endParaRPr lang="en-US" sz="570" dirty="0"/>
          </a:p>
        </p:txBody>
      </p:sp>
      <p:sp>
        <p:nvSpPr>
          <p:cNvPr id="9" name="Text 6"/>
          <p:cNvSpPr/>
          <p:nvPr/>
        </p:nvSpPr>
        <p:spPr>
          <a:xfrm>
            <a:off x="3584448" y="1764792"/>
            <a:ext cx="14173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570" b="1" dirty="0">
                <a:solidFill>
                  <a:srgbClr val="20895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● LEGITIMATE</a:t>
            </a:r>
            <a:endParaRPr lang="en-US" sz="570" dirty="0"/>
          </a:p>
        </p:txBody>
      </p:sp>
      <p:sp>
        <p:nvSpPr>
          <p:cNvPr id="10" name="Text 7"/>
          <p:cNvSpPr/>
          <p:nvPr/>
        </p:nvSpPr>
        <p:spPr>
          <a:xfrm>
            <a:off x="1161288" y="2221992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61288" y="2532888"/>
            <a:ext cx="23774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Username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Password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841248" y="3456432"/>
            <a:ext cx="4480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1248" y="3456432"/>
            <a:ext cx="4480560" cy="256032"/>
          </a:xfrm>
          <a:prstGeom prst="rect">
            <a:avLst/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3529584"/>
            <a:ext cx="13716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7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https://bank.gov.hk</a:t>
            </a:r>
            <a:endParaRPr lang="en-US" sz="570" dirty="0"/>
          </a:p>
        </p:txBody>
      </p:sp>
      <p:sp>
        <p:nvSpPr>
          <p:cNvPr id="15" name="Text 12"/>
          <p:cNvSpPr/>
          <p:nvPr/>
        </p:nvSpPr>
        <p:spPr>
          <a:xfrm>
            <a:off x="3584448" y="3529584"/>
            <a:ext cx="141732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57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● COMPROMISED · OVERLAY</a:t>
            </a:r>
            <a:endParaRPr lang="en-US" sz="570" dirty="0"/>
          </a:p>
        </p:txBody>
      </p:sp>
      <p:sp>
        <p:nvSpPr>
          <p:cNvPr id="16" name="Text 13"/>
          <p:cNvSpPr/>
          <p:nvPr/>
        </p:nvSpPr>
        <p:spPr>
          <a:xfrm>
            <a:off x="1161288" y="3986784"/>
            <a:ext cx="9144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61288" y="4297680"/>
            <a:ext cx="23774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 FAKE FORM · z-index:9999 ]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Verify your identity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credit-card-number</a:t>
            </a:r>
            <a:endParaRPr lang="en-US" sz="830" dirty="0"/>
          </a:p>
        </p:txBody>
      </p:sp>
      <p:sp>
        <p:nvSpPr>
          <p:cNvPr id="18" name="Text 15"/>
          <p:cNvSpPr/>
          <p:nvPr/>
        </p:nvSpPr>
        <p:spPr>
          <a:xfrm>
            <a:off x="1234440" y="3182112"/>
            <a:ext cx="36576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↓ CSS OVERLAY INJECTED · DOM UNCHANGED ↓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>
            <a:off x="841248" y="521208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EAF7F0"/>
          </a:solidFill>
          <a:ln w="12700">
            <a:solidFill>
              <a:srgbClr val="2089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5303520"/>
            <a:ext cx="8229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20895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DOM HASH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20895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UNCHANGED</a:t>
            </a:r>
            <a:endParaRPr lang="en-US" sz="660" dirty="0"/>
          </a:p>
        </p:txBody>
      </p:sp>
      <p:sp>
        <p:nvSpPr>
          <p:cNvPr id="21" name="Shape 18"/>
          <p:cNvSpPr/>
          <p:nvPr/>
        </p:nvSpPr>
        <p:spPr>
          <a:xfrm>
            <a:off x="2999232" y="5212080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54680" y="5303520"/>
            <a:ext cx="11887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PIXEL DIFF</a:t>
            </a:r>
            <a:endParaRPr lang="en-US" sz="660" dirty="0"/>
          </a:p>
          <a:p>
            <a:pPr algn="ctr" indent="0" marL="0">
              <a:buNone/>
            </a:pPr>
            <a:r>
              <a:rPr lang="en-US" sz="66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+34.7% MUTATION</a:t>
            </a:r>
            <a:endParaRPr lang="en-US" sz="660" dirty="0"/>
          </a:p>
        </p:txBody>
      </p:sp>
      <p:sp>
        <p:nvSpPr>
          <p:cNvPr id="23" name="Text 20"/>
          <p:cNvSpPr/>
          <p:nvPr/>
        </p:nvSpPr>
        <p:spPr>
          <a:xfrm>
            <a:off x="6400800" y="1417320"/>
            <a:ext cx="38404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▼ FOUR THREATS · TRADITIONAL vs VISUALPING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6400800" y="1719072"/>
            <a:ext cx="4526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0" y="1719072"/>
            <a:ext cx="45262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65392" y="1883664"/>
            <a:ext cx="41970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THREAT 01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6565392" y="2103120"/>
            <a:ext cx="41970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Overlay Phishing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565392" y="2414016"/>
            <a:ext cx="4197096" cy="-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Traditional: DOM unchanged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Visualping: pixel diff catches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6400800" y="2523744"/>
            <a:ext cx="4526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0" y="2523744"/>
            <a:ext cx="45262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65392" y="2688336"/>
            <a:ext cx="41970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THREAT 02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6565392" y="2907792"/>
            <a:ext cx="41970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Content Swap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565392" y="3218688"/>
            <a:ext cx="4197096" cy="-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Traditional: false positives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Visualping: AI relevance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400800" y="3328416"/>
            <a:ext cx="4526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00800" y="3328416"/>
            <a:ext cx="45262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65392" y="3493008"/>
            <a:ext cx="41970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THREAT 03</a:t>
            </a:r>
            <a:endParaRPr lang="en-US" sz="680" dirty="0"/>
          </a:p>
        </p:txBody>
      </p:sp>
      <p:sp>
        <p:nvSpPr>
          <p:cNvPr id="37" name="Text 34"/>
          <p:cNvSpPr/>
          <p:nvPr/>
        </p:nvSpPr>
        <p:spPr>
          <a:xfrm>
            <a:off x="6565392" y="3712464"/>
            <a:ext cx="41970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Brand Defacement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565392" y="4023360"/>
            <a:ext cx="4197096" cy="-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Traditional: text diff misses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Visualping: pixel + prompt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6400800" y="4133088"/>
            <a:ext cx="4526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0" y="4133088"/>
            <a:ext cx="45262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65392" y="4297680"/>
            <a:ext cx="41970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THREAT 04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6565392" y="4517136"/>
            <a:ext cx="41970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Selective Region Drift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6565392" y="4828032"/>
            <a:ext cx="4197096" cy="-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Traditional: full-page noise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Visualping: region isolation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749808" y="6473952"/>
            <a:ext cx="10680192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9808" y="6556248"/>
            <a:ext cx="4572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TRUST INTEGRITY MONITORING SYSTEM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10744200" y="6556248"/>
            <a:ext cx="685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 / 14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808" y="475488"/>
            <a:ext cx="5303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⚠ THE IPv6 BLIND SPOT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749808" y="749808"/>
            <a:ext cx="98755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Users Are on IPv6.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Monitors Aren't.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41248" y="17830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938528"/>
            <a:ext cx="14173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% USERS ON IPv6</a:t>
            </a:r>
            <a:endParaRPr lang="en-US" sz="590" dirty="0"/>
          </a:p>
        </p:txBody>
      </p:sp>
      <p:sp>
        <p:nvSpPr>
          <p:cNvPr id="7" name="Text 4"/>
          <p:cNvSpPr/>
          <p:nvPr/>
        </p:nvSpPr>
        <p:spPr>
          <a:xfrm>
            <a:off x="978408" y="2157984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~46%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78408" y="2487168"/>
            <a:ext cx="19202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Stats · 2025</a:t>
            </a:r>
            <a:endParaRPr lang="en-US" sz="670" dirty="0"/>
          </a:p>
        </p:txBody>
      </p:sp>
      <p:sp>
        <p:nvSpPr>
          <p:cNvPr id="9" name="Shape 6"/>
          <p:cNvSpPr/>
          <p:nvPr/>
        </p:nvSpPr>
        <p:spPr>
          <a:xfrm>
            <a:off x="3538728" y="17830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75888" y="1938528"/>
            <a:ext cx="14173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OS DEFAULT</a:t>
            </a:r>
            <a:endParaRPr lang="en-US" sz="590" dirty="0"/>
          </a:p>
        </p:txBody>
      </p:sp>
      <p:sp>
        <p:nvSpPr>
          <p:cNvPr id="11" name="Text 8"/>
          <p:cNvSpPr/>
          <p:nvPr/>
        </p:nvSpPr>
        <p:spPr>
          <a:xfrm>
            <a:off x="3675888" y="2157984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IPv6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675888" y="2487168"/>
            <a:ext cx="19202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/ macOS / iOS / Android</a:t>
            </a:r>
            <a:endParaRPr lang="en-US" sz="670" dirty="0"/>
          </a:p>
        </p:txBody>
      </p:sp>
      <p:sp>
        <p:nvSpPr>
          <p:cNvPr id="13" name="Shape 10"/>
          <p:cNvSpPr/>
          <p:nvPr/>
        </p:nvSpPr>
        <p:spPr>
          <a:xfrm>
            <a:off x="6236208" y="17830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3368" y="1938528"/>
            <a:ext cx="14173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TYPICAL TOOL</a:t>
            </a:r>
            <a:endParaRPr lang="en-US" sz="590" dirty="0"/>
          </a:p>
        </p:txBody>
      </p:sp>
      <p:sp>
        <p:nvSpPr>
          <p:cNvPr id="15" name="Text 12"/>
          <p:cNvSpPr/>
          <p:nvPr/>
        </p:nvSpPr>
        <p:spPr>
          <a:xfrm>
            <a:off x="6373368" y="2157984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IPv4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373368" y="2487168"/>
            <a:ext cx="19202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· ghost path</a:t>
            </a:r>
            <a:endParaRPr lang="en-US" sz="670" dirty="0"/>
          </a:p>
        </p:txBody>
      </p:sp>
      <p:sp>
        <p:nvSpPr>
          <p:cNvPr id="17" name="Shape 14"/>
          <p:cNvSpPr/>
          <p:nvPr/>
        </p:nvSpPr>
        <p:spPr>
          <a:xfrm>
            <a:off x="8933688" y="17830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70848" y="1938528"/>
            <a:ext cx="14173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SITE24X7</a:t>
            </a:r>
            <a:endParaRPr lang="en-US" sz="590" dirty="0"/>
          </a:p>
        </p:txBody>
      </p:sp>
      <p:sp>
        <p:nvSpPr>
          <p:cNvPr id="19" name="Text 16"/>
          <p:cNvSpPr/>
          <p:nvPr/>
        </p:nvSpPr>
        <p:spPr>
          <a:xfrm>
            <a:off x="9070848" y="2157984"/>
            <a:ext cx="1417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DUAL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070848" y="2487168"/>
            <a:ext cx="19202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· auto-fallback</a:t>
            </a:r>
            <a:endParaRPr lang="en-US" sz="670" dirty="0"/>
          </a:p>
        </p:txBody>
      </p:sp>
      <p:sp>
        <p:nvSpPr>
          <p:cNvPr id="21" name="Shape 18"/>
          <p:cNvSpPr/>
          <p:nvPr/>
        </p:nvSpPr>
        <p:spPr>
          <a:xfrm>
            <a:off x="841248" y="3246120"/>
            <a:ext cx="10469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1248" y="3246120"/>
            <a:ext cx="104698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3410712"/>
            <a:ext cx="101406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 · REALITY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1005840" y="3630168"/>
            <a:ext cx="101406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 Defaults to IPv6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05840" y="3941064"/>
            <a:ext cx="10140696" cy="-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Windows, macOS, iOS, and Android all prefer IPv6. Your users are already on the path you don't monitor.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8732520" y="3429000"/>
            <a:ext cx="21031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RFC 6724 · prefer-IPv6 default</a:t>
            </a:r>
            <a:endParaRPr lang="en-US" sz="630" dirty="0"/>
          </a:p>
        </p:txBody>
      </p:sp>
      <p:sp>
        <p:nvSpPr>
          <p:cNvPr id="27" name="Shape 24"/>
          <p:cNvSpPr/>
          <p:nvPr/>
        </p:nvSpPr>
        <p:spPr>
          <a:xfrm>
            <a:off x="841248" y="3959352"/>
            <a:ext cx="10469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1248" y="3959352"/>
            <a:ext cx="104698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05840" y="4123944"/>
            <a:ext cx="101406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 · REALITY</a:t>
            </a:r>
            <a:endParaRPr lang="en-US" sz="680" dirty="0"/>
          </a:p>
        </p:txBody>
      </p:sp>
      <p:sp>
        <p:nvSpPr>
          <p:cNvPr id="30" name="Text 27"/>
          <p:cNvSpPr/>
          <p:nvPr/>
        </p:nvSpPr>
        <p:spPr>
          <a:xfrm>
            <a:off x="1005840" y="4343400"/>
            <a:ext cx="101406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Inconsistency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005840" y="4654296"/>
            <a:ext cx="10140696" cy="-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IPv6 misconfigurations allow attackers to inject different content on IPv6 paths, bypassing IPv4 checks entirely.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8732520" y="4142232"/>
            <a:ext cx="21031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CDN / WAF · policy drift</a:t>
            </a:r>
            <a:endParaRPr lang="en-US" sz="630" dirty="0"/>
          </a:p>
        </p:txBody>
      </p:sp>
      <p:sp>
        <p:nvSpPr>
          <p:cNvPr id="33" name="Shape 30"/>
          <p:cNvSpPr/>
          <p:nvPr/>
        </p:nvSpPr>
        <p:spPr>
          <a:xfrm>
            <a:off x="841248" y="4672584"/>
            <a:ext cx="104698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1248" y="4672584"/>
            <a:ext cx="10469880" cy="36576"/>
          </a:xfrm>
          <a:prstGeom prst="rect">
            <a:avLst/>
          </a:prstGeom>
          <a:solidFill>
            <a:srgbClr val="D94A38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05840" y="4837176"/>
            <a:ext cx="101406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· CRITICAL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1005840" y="5056632"/>
            <a:ext cx="101406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AAAA Record Tampering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005840" y="5367528"/>
            <a:ext cx="10140696" cy="-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AAAA hijacking redirects users to malicious IPv6 hosts while A records remain completely clean.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732520" y="4855464"/>
            <a:ext cx="2103120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⚠ STEALTH ATTACK</a:t>
            </a:r>
            <a:endParaRPr lang="en-US" sz="630" dirty="0"/>
          </a:p>
        </p:txBody>
      </p:sp>
      <p:sp>
        <p:nvSpPr>
          <p:cNvPr id="39" name="Shape 36"/>
          <p:cNvSpPr/>
          <p:nvPr/>
        </p:nvSpPr>
        <p:spPr>
          <a:xfrm>
            <a:off x="960120" y="5669280"/>
            <a:ext cx="10149840" cy="512064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C8D8F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60120" y="5669280"/>
            <a:ext cx="32004" cy="512064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61288" y="5797296"/>
            <a:ext cx="97840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PRINCIPLE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1161288" y="6016752"/>
            <a:ext cx="9747504" cy="73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i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"If you don't monitor IPv6, you don't monitor your users' actual experience — and attackers know it."</a:t>
            </a:r>
            <a:endParaRPr lang="en-US" sz="1220" dirty="0"/>
          </a:p>
        </p:txBody>
      </p:sp>
      <p:sp>
        <p:nvSpPr>
          <p:cNvPr id="43" name="Shape 40"/>
          <p:cNvSpPr/>
          <p:nvPr/>
        </p:nvSpPr>
        <p:spPr>
          <a:xfrm>
            <a:off x="749808" y="6473952"/>
            <a:ext cx="10680192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9808" y="6556248"/>
            <a:ext cx="4572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TRUST INTEGRITY MONITORING SYSTEM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10744200" y="6556248"/>
            <a:ext cx="685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09 / 14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808" y="475488"/>
            <a:ext cx="5303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Security Operations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749808" y="786384"/>
            <a:ext cx="98755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Time-Bound Security Operations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41248" y="1417320"/>
            <a:ext cx="29260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INCIDENT TIMELINE · SLA TARGETS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1554480" y="2331720"/>
            <a:ext cx="8961120" cy="0"/>
          </a:xfrm>
          <a:prstGeom prst="line">
            <a:avLst/>
          </a:prstGeom>
          <a:noFill/>
          <a:ln w="12700">
            <a:solidFill>
              <a:srgbClr val="3158A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17320" y="2084832"/>
            <a:ext cx="475488" cy="475488"/>
          </a:xfrm>
          <a:prstGeom prst="ellipse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08760" y="2176272"/>
            <a:ext cx="29260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①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" y="269748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 1 MIN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5212080" y="2084832"/>
            <a:ext cx="475488" cy="475488"/>
          </a:xfrm>
          <a:prstGeom prst="ellipse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176272"/>
            <a:ext cx="29260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②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92040" y="269748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 5 MIN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9006840" y="2084832"/>
            <a:ext cx="475488" cy="475488"/>
          </a:xfrm>
          <a:prstGeom prst="ellipse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98280" y="2176272"/>
            <a:ext cx="292608" cy="1188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③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0" y="2697480"/>
            <a:ext cx="10972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 15 MIN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841248" y="3246120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1248" y="3246120"/>
            <a:ext cx="333756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3410712"/>
            <a:ext cx="30083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1005840" y="3630168"/>
            <a:ext cx="300837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05840" y="3941064"/>
            <a:ext cx="3008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Site24x7 DNS, Website, and Defacement monitors trigger automatically. No manual review needed.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69848" y="4187952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43000" y="4224528"/>
            <a:ext cx="11795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TRIGGER &lt; 60s</a:t>
            </a:r>
            <a:endParaRPr lang="en-US" sz="680" dirty="0"/>
          </a:p>
        </p:txBody>
      </p:sp>
      <p:sp>
        <p:nvSpPr>
          <p:cNvPr id="23" name="Shape 20"/>
          <p:cNvSpPr/>
          <p:nvPr/>
        </p:nvSpPr>
        <p:spPr>
          <a:xfrm>
            <a:off x="4608576" y="3246120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08576" y="3246120"/>
            <a:ext cx="333756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73168" y="3410712"/>
            <a:ext cx="30083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4773168" y="3630168"/>
            <a:ext cx="300837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773168" y="3941064"/>
            <a:ext cx="3008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Visualping screenshot diff cross-confirms anomaly. Site24x7 RCA report compiles trace evidence.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837176" y="4187952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10328" y="4224528"/>
            <a:ext cx="11795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CONFIRM &lt; 5min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8375904" y="3246120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75904" y="3246120"/>
            <a:ext cx="333756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40496" y="3410712"/>
            <a:ext cx="300837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8540496" y="3630168"/>
            <a:ext cx="300837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540496" y="3941064"/>
            <a:ext cx="300837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Auto-ticket to ServiceNow / Jira. Alert via PagerDuty / Slack / Teams. Evidence package delivered.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8604504" y="4187952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77656" y="4224528"/>
            <a:ext cx="11795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DISPATCH &lt; 15min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960120" y="5193792"/>
            <a:ext cx="10149840" cy="566928"/>
          </a:xfrm>
          <a:prstGeom prst="roundRect">
            <a:avLst>
              <a:gd name="adj" fmla="val 12903"/>
            </a:avLst>
          </a:prstGeom>
          <a:solidFill>
            <a:srgbClr val="EEF4FF"/>
          </a:solidFill>
          <a:ln w="12700">
            <a:solidFill>
              <a:srgbClr val="C8D8F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60120" y="5193792"/>
            <a:ext cx="32004" cy="566928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61288" y="5321808"/>
            <a:ext cx="97840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PRINCIPLE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1161288" y="5541264"/>
            <a:ext cx="974750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i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"SLA thinking: Detection &lt; 1min · Validation &lt; 5min · Response &lt; 15min"</a:t>
            </a:r>
            <a:endParaRPr lang="en-US" sz="1220" dirty="0"/>
          </a:p>
        </p:txBody>
      </p:sp>
      <p:sp>
        <p:nvSpPr>
          <p:cNvPr id="41" name="Shape 38"/>
          <p:cNvSpPr/>
          <p:nvPr/>
        </p:nvSpPr>
        <p:spPr>
          <a:xfrm>
            <a:off x="749808" y="6473952"/>
            <a:ext cx="10680192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9808" y="6556248"/>
            <a:ext cx="4572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TRUST INTEGRITY MONITORING SYSTEM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10744200" y="6556248"/>
            <a:ext cx="685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10 / 14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808" y="475488"/>
            <a:ext cx="5303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Enterprise Assurance / Regulated Operations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749808" y="786384"/>
            <a:ext cx="98755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Enterprise Platform for Government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749808" y="1417320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417320"/>
            <a:ext cx="49834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581912"/>
            <a:ext cx="4654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PILLAR 01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914400" y="1801368"/>
            <a:ext cx="46542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Immutable Audit Trail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0" y="2112264"/>
            <a:ext cx="4654296" cy="-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DIY: Self-managed, easily lost or tampered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OURS: Timestamped · geo-tagged · vendor-attested</a:t>
            </a:r>
            <a:endParaRPr lang="en-US" sz="670" dirty="0"/>
          </a:p>
        </p:txBody>
      </p:sp>
      <p:sp>
        <p:nvSpPr>
          <p:cNvPr id="10" name="Shape 7"/>
          <p:cNvSpPr/>
          <p:nvPr/>
        </p:nvSpPr>
        <p:spPr>
          <a:xfrm>
            <a:off x="4206240" y="1572768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79392" y="1609344"/>
            <a:ext cx="10241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RFC 3161</a:t>
            </a:r>
            <a:endParaRPr lang="en-US" sz="680" dirty="0"/>
          </a:p>
        </p:txBody>
      </p:sp>
      <p:sp>
        <p:nvSpPr>
          <p:cNvPr id="12" name="Shape 9"/>
          <p:cNvSpPr/>
          <p:nvPr/>
        </p:nvSpPr>
        <p:spPr>
          <a:xfrm>
            <a:off x="6144768" y="1417320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4768" y="1417320"/>
            <a:ext cx="49834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1581912"/>
            <a:ext cx="4654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PILLAR 02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6309360" y="1801368"/>
            <a:ext cx="46542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RBAC &amp; Identity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309360" y="2112264"/>
            <a:ext cx="4654296" cy="-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DIY: Self-built · drift over time · no audit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OURS: Granular roles · SSO · MFA · audit-logged</a:t>
            </a:r>
            <a:endParaRPr lang="en-US" sz="670" dirty="0"/>
          </a:p>
        </p:txBody>
      </p:sp>
      <p:sp>
        <p:nvSpPr>
          <p:cNvPr id="17" name="Shape 14"/>
          <p:cNvSpPr/>
          <p:nvPr/>
        </p:nvSpPr>
        <p:spPr>
          <a:xfrm>
            <a:off x="9601200" y="1572768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74352" y="1609344"/>
            <a:ext cx="10241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SAML · OIDC · SCIM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>
            <a:off x="749808" y="2468880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808" y="2468880"/>
            <a:ext cx="49834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2633472"/>
            <a:ext cx="4654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PILLAR 03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914400" y="2852928"/>
            <a:ext cx="46542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Posture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14400" y="3163824"/>
            <a:ext cx="4654296" cy="-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DIY: Self-assessed · no third-party attestation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OURS: Vendor-certified · annually re-audited</a:t>
            </a:r>
            <a:endParaRPr lang="en-US" sz="670" dirty="0"/>
          </a:p>
        </p:txBody>
      </p:sp>
      <p:sp>
        <p:nvSpPr>
          <p:cNvPr id="24" name="Shape 21"/>
          <p:cNvSpPr/>
          <p:nvPr/>
        </p:nvSpPr>
        <p:spPr>
          <a:xfrm>
            <a:off x="4206240" y="2624328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79392" y="2660904"/>
            <a:ext cx="10241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SOC 2 · ISO 27001</a:t>
            </a:r>
            <a:endParaRPr lang="en-US" sz="680" dirty="0"/>
          </a:p>
        </p:txBody>
      </p:sp>
      <p:sp>
        <p:nvSpPr>
          <p:cNvPr id="26" name="Shape 23"/>
          <p:cNvSpPr/>
          <p:nvPr/>
        </p:nvSpPr>
        <p:spPr>
          <a:xfrm>
            <a:off x="6144768" y="2468880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44768" y="2468880"/>
            <a:ext cx="49834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09360" y="2633472"/>
            <a:ext cx="4654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PILLAR 04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6309360" y="2852928"/>
            <a:ext cx="46542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Vendor Liability / SLA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309360" y="3163824"/>
            <a:ext cx="4654296" cy="-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DIY: You carry 100% of the risk · no recourse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OURS: Contractual obligation · financial penalties</a:t>
            </a:r>
            <a:endParaRPr lang="en-US" sz="670" dirty="0"/>
          </a:p>
        </p:txBody>
      </p:sp>
      <p:sp>
        <p:nvSpPr>
          <p:cNvPr id="31" name="Shape 28"/>
          <p:cNvSpPr/>
          <p:nvPr/>
        </p:nvSpPr>
        <p:spPr>
          <a:xfrm>
            <a:off x="9601200" y="2624328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74352" y="2660904"/>
            <a:ext cx="10241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99.95% uptime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749808" y="3520440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49808" y="3520440"/>
            <a:ext cx="49834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14400" y="3685032"/>
            <a:ext cx="4654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PILLAR 05</a:t>
            </a:r>
            <a:endParaRPr lang="en-US" sz="680" dirty="0"/>
          </a:p>
        </p:txBody>
      </p:sp>
      <p:sp>
        <p:nvSpPr>
          <p:cNvPr id="36" name="Text 33"/>
          <p:cNvSpPr/>
          <p:nvPr/>
        </p:nvSpPr>
        <p:spPr>
          <a:xfrm>
            <a:off x="914400" y="3904488"/>
            <a:ext cx="46542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Chain of Custody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914400" y="4215384"/>
            <a:ext cx="4654296" cy="-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DIY: Self-attested · inadmissible in court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OURS: Vendor RCA · evidence package</a:t>
            </a:r>
            <a:endParaRPr lang="en-US" sz="670" dirty="0"/>
          </a:p>
        </p:txBody>
      </p:sp>
      <p:sp>
        <p:nvSpPr>
          <p:cNvPr id="38" name="Shape 35"/>
          <p:cNvSpPr/>
          <p:nvPr/>
        </p:nvSpPr>
        <p:spPr>
          <a:xfrm>
            <a:off x="4206240" y="3675888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279392" y="3712464"/>
            <a:ext cx="10241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Forensics-ready</a:t>
            </a:r>
            <a:endParaRPr lang="en-US" sz="680" dirty="0"/>
          </a:p>
        </p:txBody>
      </p:sp>
      <p:sp>
        <p:nvSpPr>
          <p:cNvPr id="40" name="Shape 37"/>
          <p:cNvSpPr/>
          <p:nvPr/>
        </p:nvSpPr>
        <p:spPr>
          <a:xfrm>
            <a:off x="6144768" y="3520440"/>
            <a:ext cx="49834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144768" y="3520440"/>
            <a:ext cx="4983480" cy="36576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09360" y="3685032"/>
            <a:ext cx="4654296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PILLAR 06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6309360" y="3904488"/>
            <a:ext cx="465429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Continuity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309360" y="4215384"/>
            <a:ext cx="4654296" cy="-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DIY: Dependent on internal scripts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OURS: Dedicated platform + support</a:t>
            </a:r>
            <a:endParaRPr lang="en-US" sz="670" dirty="0"/>
          </a:p>
        </p:txBody>
      </p:sp>
      <p:sp>
        <p:nvSpPr>
          <p:cNvPr id="45" name="Shape 42"/>
          <p:cNvSpPr/>
          <p:nvPr/>
        </p:nvSpPr>
        <p:spPr>
          <a:xfrm>
            <a:off x="9601200" y="3675888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674352" y="3712464"/>
            <a:ext cx="10241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24×7 support</a:t>
            </a:r>
            <a:endParaRPr lang="en-US" sz="680" dirty="0"/>
          </a:p>
        </p:txBody>
      </p:sp>
      <p:sp>
        <p:nvSpPr>
          <p:cNvPr id="47" name="Shape 44"/>
          <p:cNvSpPr/>
          <p:nvPr/>
        </p:nvSpPr>
        <p:spPr>
          <a:xfrm>
            <a:off x="960120" y="5074920"/>
            <a:ext cx="10149840" cy="658368"/>
          </a:xfrm>
          <a:prstGeom prst="roundRect">
            <a:avLst>
              <a:gd name="adj" fmla="val 11111"/>
            </a:avLst>
          </a:prstGeom>
          <a:solidFill>
            <a:srgbClr val="EEF4FF"/>
          </a:solidFill>
          <a:ln w="12700">
            <a:solidFill>
              <a:srgbClr val="C8D8F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60120" y="5074920"/>
            <a:ext cx="32004" cy="658368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161288" y="5202936"/>
            <a:ext cx="97840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PRINCIPLE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1161288" y="5422392"/>
            <a:ext cx="9747504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i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"For regulated environments, the question is not whether monitoring works in a demo. The question is whether the evidence survives audit, incident review, and accountability transfer."</a:t>
            </a:r>
            <a:endParaRPr lang="en-US" sz="1220" dirty="0"/>
          </a:p>
        </p:txBody>
      </p:sp>
      <p:sp>
        <p:nvSpPr>
          <p:cNvPr id="51" name="Shape 48"/>
          <p:cNvSpPr/>
          <p:nvPr/>
        </p:nvSpPr>
        <p:spPr>
          <a:xfrm>
            <a:off x="749808" y="6473952"/>
            <a:ext cx="10680192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49808" y="6556248"/>
            <a:ext cx="4572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TRUST INTEGRITY MONITORING SYSTEM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10744200" y="6556248"/>
            <a:ext cx="685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11 / 14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808" y="475488"/>
            <a:ext cx="5303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Total Cost of Ownership / 3-Year Horizon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749808" y="786384"/>
            <a:ext cx="98755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Hidden Cost of "Free"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41248" y="1444752"/>
            <a:ext cx="48006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1248" y="1444752"/>
            <a:ext cx="4800600" cy="384048"/>
          </a:xfrm>
          <a:prstGeom prst="rect">
            <a:avLst/>
          </a:prstGeom>
          <a:solidFill>
            <a:srgbClr val="D94A38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1572768"/>
            <a:ext cx="31089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COLUMN A · DIY / VIBE-CODE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1069848" y="2029968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2532888" y="2029968"/>
            <a:ext cx="1554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proxy / server / storage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4361688" y="2029968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CONTINUOUS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1042416" y="2304288"/>
            <a:ext cx="438912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432304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Time</a:t>
            </a:r>
            <a:endParaRPr lang="en-US" sz="760" dirty="0"/>
          </a:p>
        </p:txBody>
      </p:sp>
      <p:sp>
        <p:nvSpPr>
          <p:cNvPr id="13" name="Text 10"/>
          <p:cNvSpPr/>
          <p:nvPr/>
        </p:nvSpPr>
        <p:spPr>
          <a:xfrm>
            <a:off x="2532888" y="2432304"/>
            <a:ext cx="1554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+ maintain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4361688" y="2432304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ONGOING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042416" y="2706624"/>
            <a:ext cx="438912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" y="2834640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Fatigue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2532888" y="2834640"/>
            <a:ext cx="1554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positives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4361688" y="2834640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HIGH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1042416" y="3108960"/>
            <a:ext cx="438912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9848" y="3236976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Delay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2532888" y="3236976"/>
            <a:ext cx="1554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auto-RCA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4361688" y="3236976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HIGH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1042416" y="3511296"/>
            <a:ext cx="438912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9848" y="3639312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Outage Impact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2532888" y="3639312"/>
            <a:ext cx="1554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SLA recourse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4361688" y="3639312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UNCAPPED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1042416" y="3913632"/>
            <a:ext cx="438912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69848" y="4526280"/>
            <a:ext cx="4343400" cy="310896"/>
          </a:xfrm>
          <a:prstGeom prst="roundRect">
            <a:avLst>
              <a:gd name="adj" fmla="val 23529"/>
            </a:avLst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25296" y="4617720"/>
            <a:ext cx="39776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3-YEAR TCO · UNPREDICTABLE ↗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6565392" y="1444752"/>
            <a:ext cx="48006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65392" y="1444752"/>
            <a:ext cx="4800600" cy="384048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48272" y="1572768"/>
            <a:ext cx="31089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COLUMN B · OURS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6793992" y="2029968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</a:t>
            </a:r>
            <a:endParaRPr lang="en-US" sz="760" dirty="0"/>
          </a:p>
        </p:txBody>
      </p:sp>
      <p:sp>
        <p:nvSpPr>
          <p:cNvPr id="34" name="Text 31"/>
          <p:cNvSpPr/>
          <p:nvPr/>
        </p:nvSpPr>
        <p:spPr>
          <a:xfrm>
            <a:off x="8257032" y="2029968"/>
            <a:ext cx="1554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vendor-hosted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10085832" y="2029968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INCLUDED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6766560" y="2304288"/>
            <a:ext cx="438912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793992" y="2432304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Time</a:t>
            </a:r>
            <a:endParaRPr lang="en-US" sz="760" dirty="0"/>
          </a:p>
        </p:txBody>
      </p:sp>
      <p:sp>
        <p:nvSpPr>
          <p:cNvPr id="38" name="Text 35"/>
          <p:cNvSpPr/>
          <p:nvPr/>
        </p:nvSpPr>
        <p:spPr>
          <a:xfrm>
            <a:off x="8257032" y="2432304"/>
            <a:ext cx="1554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config-only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10085832" y="2432304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≈ 0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6766560" y="2706624"/>
            <a:ext cx="438912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93992" y="2834640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Fatigue</a:t>
            </a:r>
            <a:endParaRPr lang="en-US" sz="760" dirty="0"/>
          </a:p>
        </p:txBody>
      </p:sp>
      <p:sp>
        <p:nvSpPr>
          <p:cNvPr id="42" name="Text 39"/>
          <p:cNvSpPr/>
          <p:nvPr/>
        </p:nvSpPr>
        <p:spPr>
          <a:xfrm>
            <a:off x="8257032" y="2834640"/>
            <a:ext cx="1554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AI-summarized</a:t>
            </a:r>
            <a:endParaRPr lang="en-US" sz="720" dirty="0"/>
          </a:p>
        </p:txBody>
      </p:sp>
      <p:sp>
        <p:nvSpPr>
          <p:cNvPr id="43" name="Text 40"/>
          <p:cNvSpPr/>
          <p:nvPr/>
        </p:nvSpPr>
        <p:spPr>
          <a:xfrm>
            <a:off x="10085832" y="2834640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LOW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6766560" y="3108960"/>
            <a:ext cx="438912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93992" y="3236976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Delay</a:t>
            </a:r>
            <a:endParaRPr lang="en-US" sz="760" dirty="0"/>
          </a:p>
        </p:txBody>
      </p:sp>
      <p:sp>
        <p:nvSpPr>
          <p:cNvPr id="46" name="Text 43"/>
          <p:cNvSpPr/>
          <p:nvPr/>
        </p:nvSpPr>
        <p:spPr>
          <a:xfrm>
            <a:off x="8257032" y="3236976"/>
            <a:ext cx="1554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auto-RCA report</a:t>
            </a:r>
            <a:endParaRPr lang="en-US" sz="720" dirty="0"/>
          </a:p>
        </p:txBody>
      </p:sp>
      <p:sp>
        <p:nvSpPr>
          <p:cNvPr id="47" name="Text 44"/>
          <p:cNvSpPr/>
          <p:nvPr/>
        </p:nvSpPr>
        <p:spPr>
          <a:xfrm>
            <a:off x="10085832" y="3236976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LOW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6766560" y="3511296"/>
            <a:ext cx="438912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793992" y="3639312"/>
            <a:ext cx="14630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Outage Impact</a:t>
            </a:r>
            <a:endParaRPr lang="en-US" sz="760" dirty="0"/>
          </a:p>
        </p:txBody>
      </p:sp>
      <p:sp>
        <p:nvSpPr>
          <p:cNvPr id="50" name="Text 47"/>
          <p:cNvSpPr/>
          <p:nvPr/>
        </p:nvSpPr>
        <p:spPr>
          <a:xfrm>
            <a:off x="8257032" y="3639312"/>
            <a:ext cx="15544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SLA-credited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10085832" y="3639312"/>
            <a:ext cx="86868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CAPPED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6766560" y="3913632"/>
            <a:ext cx="4389120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793992" y="4526280"/>
            <a:ext cx="4343400" cy="310896"/>
          </a:xfrm>
          <a:prstGeom prst="roundRect">
            <a:avLst>
              <a:gd name="adj" fmla="val 23529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949440" y="4617720"/>
            <a:ext cx="397764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3-YEAR TCO · PREDICTABLE →</a:t>
            </a:r>
            <a:endParaRPr lang="en-US" sz="720" dirty="0"/>
          </a:p>
        </p:txBody>
      </p:sp>
      <p:sp>
        <p:nvSpPr>
          <p:cNvPr id="55" name="Shape 52"/>
          <p:cNvSpPr/>
          <p:nvPr/>
        </p:nvSpPr>
        <p:spPr>
          <a:xfrm>
            <a:off x="841248" y="5349240"/>
            <a:ext cx="10515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41248" y="5349240"/>
            <a:ext cx="1737360" cy="502920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87552" y="5468112"/>
            <a:ext cx="1417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CFO INSIGHT</a:t>
            </a:r>
            <a:endParaRPr lang="en-US" sz="680" dirty="0"/>
          </a:p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Budget Predictability</a:t>
            </a:r>
            <a:endParaRPr lang="en-US" sz="680" dirty="0"/>
          </a:p>
        </p:txBody>
      </p:sp>
      <p:sp>
        <p:nvSpPr>
          <p:cNvPr id="58" name="Text 55"/>
          <p:cNvSpPr/>
          <p:nvPr/>
        </p:nvSpPr>
        <p:spPr>
          <a:xfrm>
            <a:off x="2761488" y="5504688"/>
            <a:ext cx="81381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budgets require predictable OPEX, not surprise engineering sprints. Every "free" hour spent rebuilding monitoring is an hour not spent on differentiating features.</a:t>
            </a:r>
            <a:endParaRPr lang="en-US" sz="830" dirty="0"/>
          </a:p>
        </p:txBody>
      </p:sp>
      <p:sp>
        <p:nvSpPr>
          <p:cNvPr id="59" name="Shape 56"/>
          <p:cNvSpPr/>
          <p:nvPr/>
        </p:nvSpPr>
        <p:spPr>
          <a:xfrm>
            <a:off x="749808" y="6473952"/>
            <a:ext cx="10680192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49808" y="6556248"/>
            <a:ext cx="4572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TRUST INTEGRITY MONITORING SYSTEM</a:t>
            </a:r>
            <a:endParaRPr lang="en-US" sz="650" dirty="0"/>
          </a:p>
        </p:txBody>
      </p:sp>
      <p:sp>
        <p:nvSpPr>
          <p:cNvPr id="61" name="Text 58"/>
          <p:cNvSpPr/>
          <p:nvPr/>
        </p:nvSpPr>
        <p:spPr>
          <a:xfrm>
            <a:off x="10744200" y="6556248"/>
            <a:ext cx="685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12 / 14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49808" y="475488"/>
            <a:ext cx="53035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Competitive Landscape / Category Analysis</a:t>
            </a:r>
            <a:endParaRPr lang="en-US" sz="880" dirty="0"/>
          </a:p>
        </p:txBody>
      </p:sp>
      <p:sp>
        <p:nvSpPr>
          <p:cNvPr id="4" name="Text 1"/>
          <p:cNvSpPr/>
          <p:nvPr/>
        </p:nvSpPr>
        <p:spPr>
          <a:xfrm>
            <a:off x="749808" y="786384"/>
            <a:ext cx="987552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Others Fall Short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49808" y="141732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417320"/>
            <a:ext cx="4983480" cy="292608"/>
          </a:xfrm>
          <a:prstGeom prst="rect">
            <a:avLst/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96112" y="1517904"/>
            <a:ext cx="9144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CATEGORY 01</a:t>
            </a:r>
            <a:endParaRPr lang="en-US" sz="580" dirty="0"/>
          </a:p>
        </p:txBody>
      </p:sp>
      <p:sp>
        <p:nvSpPr>
          <p:cNvPr id="8" name="Shape 5"/>
          <p:cNvSpPr/>
          <p:nvPr/>
        </p:nvSpPr>
        <p:spPr>
          <a:xfrm>
            <a:off x="4590288" y="1481328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D94A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517904"/>
            <a:ext cx="722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⚠ KILL-SHOT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950976" y="1856232"/>
            <a:ext cx="2194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AI-Only Monitoring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50976" y="2112264"/>
            <a:ext cx="219456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e.g. AI-screenshot diff tools</a:t>
            </a:r>
            <a:endParaRPr lang="en-US" sz="660" dirty="0"/>
          </a:p>
        </p:txBody>
      </p:sp>
      <p:sp>
        <p:nvSpPr>
          <p:cNvPr id="12" name="Shape 9"/>
          <p:cNvSpPr/>
          <p:nvPr/>
        </p:nvSpPr>
        <p:spPr>
          <a:xfrm>
            <a:off x="950976" y="2313432"/>
            <a:ext cx="2176272" cy="292608"/>
          </a:xfrm>
          <a:prstGeom prst="roundRect">
            <a:avLst>
              <a:gd name="adj" fmla="val 25000"/>
            </a:avLst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0704" y="2395728"/>
            <a:ext cx="19659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DNS / IPv6 visibility · probabilistic-only reasoning · single-layer surface</a:t>
            </a:r>
            <a:endParaRPr lang="en-US" sz="590" dirty="0"/>
          </a:p>
        </p:txBody>
      </p:sp>
      <p:sp>
        <p:nvSpPr>
          <p:cNvPr id="14" name="Shape 11"/>
          <p:cNvSpPr/>
          <p:nvPr/>
        </p:nvSpPr>
        <p:spPr>
          <a:xfrm>
            <a:off x="3310128" y="2313432"/>
            <a:ext cx="2176272" cy="292608"/>
          </a:xfrm>
          <a:prstGeom prst="roundRect">
            <a:avLst>
              <a:gd name="adj" fmla="val 25000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19856" y="2395728"/>
            <a:ext cx="19659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Multi-layer deterministic validation · DNS + network + content + visual</a:t>
            </a:r>
            <a:endParaRPr lang="en-US" sz="590" dirty="0"/>
          </a:p>
        </p:txBody>
      </p:sp>
      <p:sp>
        <p:nvSpPr>
          <p:cNvPr id="16" name="Shape 13"/>
          <p:cNvSpPr/>
          <p:nvPr/>
        </p:nvSpPr>
        <p:spPr>
          <a:xfrm>
            <a:off x="6144768" y="1417320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44768" y="1417320"/>
            <a:ext cx="4983480" cy="292608"/>
          </a:xfrm>
          <a:prstGeom prst="rect">
            <a:avLst/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91072" y="1517904"/>
            <a:ext cx="9144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CATEGORY 02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9985248" y="1481328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D94A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0" y="1517904"/>
            <a:ext cx="722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⚠ KILL-SHOT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6345936" y="1856232"/>
            <a:ext cx="2194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DIY / Open-Source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45936" y="2112264"/>
            <a:ext cx="219456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e.g. Uptime Kuma · home-rolled scripts</a:t>
            </a:r>
            <a:endParaRPr lang="en-US" sz="660" dirty="0"/>
          </a:p>
        </p:txBody>
      </p:sp>
      <p:sp>
        <p:nvSpPr>
          <p:cNvPr id="23" name="Shape 20"/>
          <p:cNvSpPr/>
          <p:nvPr/>
        </p:nvSpPr>
        <p:spPr>
          <a:xfrm>
            <a:off x="6345936" y="2313432"/>
            <a:ext cx="2176272" cy="292608"/>
          </a:xfrm>
          <a:prstGeom prst="roundRect">
            <a:avLst>
              <a:gd name="adj" fmla="val 25000"/>
            </a:avLst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55664" y="2395728"/>
            <a:ext cx="19659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SLA · no audit trail · no accountability when it breaks</a:t>
            </a:r>
            <a:endParaRPr lang="en-US" sz="590" dirty="0"/>
          </a:p>
        </p:txBody>
      </p:sp>
      <p:sp>
        <p:nvSpPr>
          <p:cNvPr id="25" name="Shape 22"/>
          <p:cNvSpPr/>
          <p:nvPr/>
        </p:nvSpPr>
        <p:spPr>
          <a:xfrm>
            <a:off x="8705088" y="2313432"/>
            <a:ext cx="2176272" cy="292608"/>
          </a:xfrm>
          <a:prstGeom prst="roundRect">
            <a:avLst>
              <a:gd name="adj" fmla="val 25000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14816" y="2395728"/>
            <a:ext cx="19659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Vendor-backed · contractually obligated · compliance-ready out of the box</a:t>
            </a:r>
            <a:endParaRPr lang="en-US" sz="590" dirty="0"/>
          </a:p>
        </p:txBody>
      </p:sp>
      <p:sp>
        <p:nvSpPr>
          <p:cNvPr id="27" name="Shape 24"/>
          <p:cNvSpPr/>
          <p:nvPr/>
        </p:nvSpPr>
        <p:spPr>
          <a:xfrm>
            <a:off x="749808" y="2990088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9808" y="2990088"/>
            <a:ext cx="4983480" cy="292608"/>
          </a:xfrm>
          <a:prstGeom prst="rect">
            <a:avLst/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6112" y="3090672"/>
            <a:ext cx="9144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CATEGORY 03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4590288" y="3054096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D94A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63440" y="3090672"/>
            <a:ext cx="722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⚠ KILL-SHOT</a:t>
            </a:r>
            <a:endParaRPr lang="en-US" sz="680" dirty="0"/>
          </a:p>
        </p:txBody>
      </p:sp>
      <p:sp>
        <p:nvSpPr>
          <p:cNvPr id="32" name="Text 29"/>
          <p:cNvSpPr/>
          <p:nvPr/>
        </p:nvSpPr>
        <p:spPr>
          <a:xfrm>
            <a:off x="950976" y="3429000"/>
            <a:ext cx="2194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Trackers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50976" y="3685032"/>
            <a:ext cx="219456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e.g. ChangeTower · Wachete</a:t>
            </a:r>
            <a:endParaRPr lang="en-US" sz="660" dirty="0"/>
          </a:p>
        </p:txBody>
      </p:sp>
      <p:sp>
        <p:nvSpPr>
          <p:cNvPr id="34" name="Shape 31"/>
          <p:cNvSpPr/>
          <p:nvPr/>
        </p:nvSpPr>
        <p:spPr>
          <a:xfrm>
            <a:off x="950976" y="3886200"/>
            <a:ext cx="2176272" cy="292608"/>
          </a:xfrm>
          <a:prstGeom prst="roundRect">
            <a:avLst>
              <a:gd name="adj" fmla="val 25000"/>
            </a:avLst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60704" y="3968496"/>
            <a:ext cx="19659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built for security · marketing-grade signal · no RCA capability</a:t>
            </a:r>
            <a:endParaRPr lang="en-US" sz="590" dirty="0"/>
          </a:p>
        </p:txBody>
      </p:sp>
      <p:sp>
        <p:nvSpPr>
          <p:cNvPr id="36" name="Shape 33"/>
          <p:cNvSpPr/>
          <p:nvPr/>
        </p:nvSpPr>
        <p:spPr>
          <a:xfrm>
            <a:off x="3310128" y="3886200"/>
            <a:ext cx="2176272" cy="292608"/>
          </a:xfrm>
          <a:prstGeom prst="roundRect">
            <a:avLst>
              <a:gd name="adj" fmla="val 25000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419856" y="3968496"/>
            <a:ext cx="19659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Security-grade monitoring · auto-RCA · evidence-graded outputs</a:t>
            </a:r>
            <a:endParaRPr lang="en-US" sz="590" dirty="0"/>
          </a:p>
        </p:txBody>
      </p:sp>
      <p:sp>
        <p:nvSpPr>
          <p:cNvPr id="38" name="Shape 35"/>
          <p:cNvSpPr/>
          <p:nvPr/>
        </p:nvSpPr>
        <p:spPr>
          <a:xfrm>
            <a:off x="6144768" y="2990088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44768" y="2990088"/>
            <a:ext cx="4983480" cy="292608"/>
          </a:xfrm>
          <a:prstGeom prst="rect">
            <a:avLst/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91072" y="3090672"/>
            <a:ext cx="914400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D94A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CATEGORY 04</a:t>
            </a:r>
            <a:endParaRPr lang="en-US" sz="580" dirty="0"/>
          </a:p>
        </p:txBody>
      </p:sp>
      <p:sp>
        <p:nvSpPr>
          <p:cNvPr id="41" name="Shape 38"/>
          <p:cNvSpPr/>
          <p:nvPr/>
        </p:nvSpPr>
        <p:spPr>
          <a:xfrm>
            <a:off x="9985248" y="3054096"/>
            <a:ext cx="868680" cy="256032"/>
          </a:xfrm>
          <a:prstGeom prst="roundRect">
            <a:avLst>
              <a:gd name="adj" fmla="val 14286"/>
            </a:avLst>
          </a:prstGeom>
          <a:solidFill>
            <a:srgbClr val="D94A3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058400" y="3090672"/>
            <a:ext cx="72237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⚠ KILL-SHOT</a:t>
            </a:r>
            <a:endParaRPr lang="en-US" sz="680" dirty="0"/>
          </a:p>
        </p:txBody>
      </p:sp>
      <p:sp>
        <p:nvSpPr>
          <p:cNvPr id="43" name="Text 40"/>
          <p:cNvSpPr/>
          <p:nvPr/>
        </p:nvSpPr>
        <p:spPr>
          <a:xfrm>
            <a:off x="6345936" y="3429000"/>
            <a:ext cx="2194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Pure Visual Tools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345936" y="3685032"/>
            <a:ext cx="219456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e.g. screenshot-only services</a:t>
            </a:r>
            <a:endParaRPr lang="en-US" sz="660" dirty="0"/>
          </a:p>
        </p:txBody>
      </p:sp>
      <p:sp>
        <p:nvSpPr>
          <p:cNvPr id="45" name="Shape 42"/>
          <p:cNvSpPr/>
          <p:nvPr/>
        </p:nvSpPr>
        <p:spPr>
          <a:xfrm>
            <a:off x="6345936" y="3886200"/>
            <a:ext cx="2176272" cy="292608"/>
          </a:xfrm>
          <a:prstGeom prst="roundRect">
            <a:avLst>
              <a:gd name="adj" fmla="val 25000"/>
            </a:avLst>
          </a:prstGeom>
          <a:solidFill>
            <a:srgbClr val="FBEDEA"/>
          </a:solidFill>
          <a:ln w="12700">
            <a:solidFill>
              <a:srgbClr val="D94A3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55664" y="3968496"/>
            <a:ext cx="19659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Pixels only · zero infrastructure visibility · blind to DNS / network attacks</a:t>
            </a:r>
            <a:endParaRPr lang="en-US" sz="590" dirty="0"/>
          </a:p>
        </p:txBody>
      </p:sp>
      <p:sp>
        <p:nvSpPr>
          <p:cNvPr id="47" name="Shape 44"/>
          <p:cNvSpPr/>
          <p:nvPr/>
        </p:nvSpPr>
        <p:spPr>
          <a:xfrm>
            <a:off x="8705088" y="3886200"/>
            <a:ext cx="2176272" cy="292608"/>
          </a:xfrm>
          <a:prstGeom prst="roundRect">
            <a:avLst>
              <a:gd name="adj" fmla="val 25000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814816" y="3968496"/>
            <a:ext cx="1965960" cy="1005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590" b="1" dirty="0">
                <a:solidFill>
                  <a:srgbClr val="315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stack: DNS · network · content · visual · alert — six layers, one platform</a:t>
            </a:r>
            <a:endParaRPr lang="en-US" sz="590" dirty="0"/>
          </a:p>
        </p:txBody>
      </p:sp>
      <p:sp>
        <p:nvSpPr>
          <p:cNvPr id="49" name="Shape 46"/>
          <p:cNvSpPr/>
          <p:nvPr/>
        </p:nvSpPr>
        <p:spPr>
          <a:xfrm>
            <a:off x="749808" y="5074920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EEF4FF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49808" y="5074920"/>
            <a:ext cx="1554480" cy="548640"/>
          </a:xfrm>
          <a:prstGeom prst="rect">
            <a:avLst/>
          </a:prstGeom>
          <a:solidFill>
            <a:srgbClr val="3158A4"/>
          </a:solidFill>
          <a:ln w="12700">
            <a:solidFill>
              <a:srgbClr val="3158A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4400" y="5193792"/>
            <a:ext cx="11887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VERDICT</a:t>
            </a:r>
            <a:endParaRPr lang="en-US" sz="680" dirty="0"/>
          </a:p>
          <a:p>
            <a:pPr algn="l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Category of One</a:t>
            </a:r>
            <a:endParaRPr lang="en-US" sz="680" dirty="0"/>
          </a:p>
        </p:txBody>
      </p:sp>
      <p:sp>
        <p:nvSpPr>
          <p:cNvPr id="52" name="Text 49"/>
          <p:cNvSpPr/>
          <p:nvPr/>
        </p:nvSpPr>
        <p:spPr>
          <a:xfrm>
            <a:off x="2542032" y="5285232"/>
            <a:ext cx="69494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competitor solves one slice. We solve all six layers with vendor-backed accountability — the only position regulators accept.</a:t>
            </a:r>
            <a:endParaRPr lang="en-US" sz="820" dirty="0"/>
          </a:p>
        </p:txBody>
      </p:sp>
      <p:sp>
        <p:nvSpPr>
          <p:cNvPr id="53" name="Text 50"/>
          <p:cNvSpPr/>
          <p:nvPr/>
        </p:nvSpPr>
        <p:spPr>
          <a:xfrm>
            <a:off x="10058400" y="5257800"/>
            <a:ext cx="10058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158A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 / 6 LAYERS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749808" y="6473952"/>
            <a:ext cx="10680192" cy="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49808" y="6556248"/>
            <a:ext cx="45720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WEB TRUST INTEGRITY MONITORING SYSTEM</a:t>
            </a:r>
            <a:endParaRPr lang="en-US" sz="650" dirty="0"/>
          </a:p>
        </p:txBody>
      </p:sp>
      <p:sp>
        <p:nvSpPr>
          <p:cNvPr id="56" name="Text 53"/>
          <p:cNvSpPr/>
          <p:nvPr/>
        </p:nvSpPr>
        <p:spPr>
          <a:xfrm>
            <a:off x="10744200" y="6556248"/>
            <a:ext cx="6858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64708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13 / 14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09728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9728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9728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9728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728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9728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9728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70432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70432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70432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70432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70432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70432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70432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70432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70432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170432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170432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70432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70432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700784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700784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700784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700784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700784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700784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700784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700784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700784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700784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700784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700784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700784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231136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231136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231136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231136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2231136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231136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2231136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231136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231136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231136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231136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231136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231136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2761488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761488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761488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761488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2761488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761488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2761488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2761488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2761488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761488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761488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761488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2761488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291840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291840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291840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291840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3291840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3291840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291840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291840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3291840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3291840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3291840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3291840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3291840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3822192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3822192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3822192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822192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822192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822192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3822192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822192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3822192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822192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822192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3822192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3822192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352544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4352544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352544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4352544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4352544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352544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4352544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352544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352544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352544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4352544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352544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4352544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882896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4882896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4882896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882896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882896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882896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4882896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882896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4882896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4882896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882896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4882896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4882896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5413248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5413248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5413248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5413248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5413248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5413248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5413248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413248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413248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413248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413248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413248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413248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943600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943600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943600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943600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943600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5943600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5943600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943600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943600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5943600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943600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5943600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943600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6473952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6473952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6473952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6473952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6473952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6473952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6473952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6473952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6473952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6473952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6473952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6473952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473952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7004304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7004304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7004304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7004304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7004304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7004304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7004304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7004304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7004304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7004304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7004304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7004304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7004304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7534656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7534656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7534656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7534656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7534656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7534656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7534656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7534656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7534656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7534656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7534656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7534656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7534656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8065008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8065008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8065008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8065008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8065008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8065008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8065008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8065008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8065008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8065008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8065008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8065008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8065008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8595360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8595360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8595360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8595360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8595360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8595360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8595360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8595360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8595360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8595360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8595360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8595360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8595360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9125712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9125712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9125712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9125712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9125712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9125712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9125712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9125712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9125712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9125712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9125712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9125712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9125712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9656064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9656064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9656064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9656064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9656064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9656064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9656064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9656064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9656064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9656064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9656064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9656064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9656064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10186416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10186416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10186416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10186416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10186416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10186416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10186416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10186416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10186416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10186416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10186416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10186416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10186416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10716768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10716768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10716768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10716768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10716768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10716768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10716768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10716768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10716768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10716768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10716768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10716768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10716768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11247120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11247120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11247120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11247120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11247120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11247120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11247120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11247120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11247120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11247120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11247120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11247120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11247120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11777472" y="12801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11777472" y="65836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11777472" y="118872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11777472" y="171907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11777472" y="224942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11777472" y="277977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11777472" y="331012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11777472" y="384048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11777472" y="4370832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11777472" y="4901184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11777472" y="5431536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11777472" y="5961888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11777472" y="6492240"/>
            <a:ext cx="9144" cy="9144"/>
          </a:xfrm>
          <a:prstGeom prst="ellipse">
            <a:avLst/>
          </a:prstGeom>
          <a:solidFill>
            <a:srgbClr val="2B3548">
              <a:alpha val="75000"/>
            </a:srgbClr>
          </a:solidFill>
          <a:ln w="12700">
            <a:solidFill>
              <a:srgbClr val="2B3548">
                <a:alpha val="0"/>
              </a:srgbClr>
            </a:solidFill>
            <a:prstDash val="solid"/>
          </a:ln>
        </p:spPr>
      </p:sp>
      <p:sp>
        <p:nvSpPr>
          <p:cNvPr id="302" name="Text 299"/>
          <p:cNvSpPr/>
          <p:nvPr/>
        </p:nvSpPr>
        <p:spPr>
          <a:xfrm>
            <a:off x="749808" y="502920"/>
            <a:ext cx="237744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70" b="1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CLOSE / KEY TAKEAWAY</a:t>
            </a:r>
            <a:endParaRPr lang="en-US" sz="670" dirty="0"/>
          </a:p>
        </p:txBody>
      </p:sp>
      <p:sp>
        <p:nvSpPr>
          <p:cNvPr id="303" name="Text 300"/>
          <p:cNvSpPr/>
          <p:nvPr/>
        </p:nvSpPr>
        <p:spPr>
          <a:xfrm>
            <a:off x="9692640" y="502920"/>
            <a:ext cx="16459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670" b="1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SLIDE 14 / 14 ◀</a:t>
            </a:r>
            <a:endParaRPr lang="en-US" sz="670" dirty="0"/>
          </a:p>
        </p:txBody>
      </p:sp>
      <p:sp>
        <p:nvSpPr>
          <p:cNvPr id="304" name="Shape 301"/>
          <p:cNvSpPr/>
          <p:nvPr/>
        </p:nvSpPr>
        <p:spPr>
          <a:xfrm>
            <a:off x="749808" y="786384"/>
            <a:ext cx="10680192" cy="0"/>
          </a:xfrm>
          <a:prstGeom prst="line">
            <a:avLst/>
          </a:prstGeom>
          <a:noFill/>
          <a:ln w="12700">
            <a:solidFill>
              <a:srgbClr val="465166"/>
            </a:solidFill>
            <a:prstDash val="solid"/>
          </a:ln>
        </p:spPr>
      </p:sp>
      <p:sp>
        <p:nvSpPr>
          <p:cNvPr id="305" name="Text 302"/>
          <p:cNvSpPr/>
          <p:nvPr/>
        </p:nvSpPr>
        <p:spPr>
          <a:xfrm>
            <a:off x="749808" y="1234440"/>
            <a:ext cx="804672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don't just detect.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prove.</a:t>
            </a:r>
            <a:endParaRPr lang="en-US" sz="3900" dirty="0"/>
          </a:p>
        </p:txBody>
      </p:sp>
      <p:sp>
        <p:nvSpPr>
          <p:cNvPr id="306" name="Shape 303"/>
          <p:cNvSpPr/>
          <p:nvPr/>
        </p:nvSpPr>
        <p:spPr>
          <a:xfrm>
            <a:off x="749808" y="2743200"/>
            <a:ext cx="962863" cy="310896"/>
          </a:xfrm>
          <a:prstGeom prst="rect">
            <a:avLst/>
          </a:prstGeom>
          <a:solidFill>
            <a:srgbClr val="1B2437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07" name="Text 304"/>
          <p:cNvSpPr/>
          <p:nvPr/>
        </p:nvSpPr>
        <p:spPr>
          <a:xfrm>
            <a:off x="795528" y="2807208"/>
            <a:ext cx="8714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</a:t>
            </a:r>
            <a:endParaRPr lang="en-US" sz="650" dirty="0"/>
          </a:p>
        </p:txBody>
      </p:sp>
      <p:sp>
        <p:nvSpPr>
          <p:cNvPr id="308" name="Shape 305"/>
          <p:cNvSpPr/>
          <p:nvPr/>
        </p:nvSpPr>
        <p:spPr>
          <a:xfrm>
            <a:off x="1712671" y="2743200"/>
            <a:ext cx="4867808" cy="310896"/>
          </a:xfrm>
          <a:prstGeom prst="rect">
            <a:avLst/>
          </a:prstGeom>
          <a:solidFill>
            <a:srgbClr val="1B2437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09" name="Text 306"/>
          <p:cNvSpPr/>
          <p:nvPr/>
        </p:nvSpPr>
        <p:spPr>
          <a:xfrm>
            <a:off x="1758391" y="2807208"/>
            <a:ext cx="4776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OUR APPROACH</a:t>
            </a:r>
            <a:endParaRPr lang="en-US" sz="650" dirty="0"/>
          </a:p>
        </p:txBody>
      </p:sp>
      <p:sp>
        <p:nvSpPr>
          <p:cNvPr id="310" name="Shape 307"/>
          <p:cNvSpPr/>
          <p:nvPr/>
        </p:nvSpPr>
        <p:spPr>
          <a:xfrm>
            <a:off x="6580480" y="2743200"/>
            <a:ext cx="4867808" cy="310896"/>
          </a:xfrm>
          <a:prstGeom prst="rect">
            <a:avLst/>
          </a:prstGeom>
          <a:solidFill>
            <a:srgbClr val="1B2437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11" name="Text 308"/>
          <p:cNvSpPr/>
          <p:nvPr/>
        </p:nvSpPr>
        <p:spPr>
          <a:xfrm>
            <a:off x="6626200" y="2807208"/>
            <a:ext cx="4776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✗ AI-ONLY / DIY</a:t>
            </a:r>
            <a:endParaRPr lang="en-US" sz="650" dirty="0"/>
          </a:p>
        </p:txBody>
      </p:sp>
      <p:sp>
        <p:nvSpPr>
          <p:cNvPr id="312" name="Shape 309"/>
          <p:cNvSpPr/>
          <p:nvPr/>
        </p:nvSpPr>
        <p:spPr>
          <a:xfrm>
            <a:off x="749808" y="3054096"/>
            <a:ext cx="962863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13" name="Text 310"/>
          <p:cNvSpPr/>
          <p:nvPr/>
        </p:nvSpPr>
        <p:spPr>
          <a:xfrm>
            <a:off x="795528" y="3118104"/>
            <a:ext cx="8714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60" dirty="0"/>
          </a:p>
        </p:txBody>
      </p:sp>
      <p:sp>
        <p:nvSpPr>
          <p:cNvPr id="314" name="Shape 311"/>
          <p:cNvSpPr/>
          <p:nvPr/>
        </p:nvSpPr>
        <p:spPr>
          <a:xfrm>
            <a:off x="1712671" y="3054096"/>
            <a:ext cx="48678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15" name="Text 312"/>
          <p:cNvSpPr/>
          <p:nvPr/>
        </p:nvSpPr>
        <p:spPr>
          <a:xfrm>
            <a:off x="1758391" y="3118104"/>
            <a:ext cx="4776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089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Deterministic validation</a:t>
            </a:r>
            <a:endParaRPr lang="en-US" sz="760" dirty="0"/>
          </a:p>
        </p:txBody>
      </p:sp>
      <p:sp>
        <p:nvSpPr>
          <p:cNvPr id="316" name="Shape 313"/>
          <p:cNvSpPr/>
          <p:nvPr/>
        </p:nvSpPr>
        <p:spPr>
          <a:xfrm>
            <a:off x="6580480" y="3054096"/>
            <a:ext cx="48678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17" name="Text 314"/>
          <p:cNvSpPr/>
          <p:nvPr/>
        </p:nvSpPr>
        <p:spPr>
          <a:xfrm>
            <a:off x="6626200" y="3118104"/>
            <a:ext cx="4776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Probabilistic inference</a:t>
            </a:r>
            <a:endParaRPr lang="en-US" sz="760" dirty="0"/>
          </a:p>
        </p:txBody>
      </p:sp>
      <p:sp>
        <p:nvSpPr>
          <p:cNvPr id="318" name="Shape 315"/>
          <p:cNvSpPr/>
          <p:nvPr/>
        </p:nvSpPr>
        <p:spPr>
          <a:xfrm>
            <a:off x="749808" y="3364992"/>
            <a:ext cx="962863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19" name="Text 316"/>
          <p:cNvSpPr/>
          <p:nvPr/>
        </p:nvSpPr>
        <p:spPr>
          <a:xfrm>
            <a:off x="795528" y="3429000"/>
            <a:ext cx="8714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60" dirty="0"/>
          </a:p>
        </p:txBody>
      </p:sp>
      <p:sp>
        <p:nvSpPr>
          <p:cNvPr id="320" name="Shape 317"/>
          <p:cNvSpPr/>
          <p:nvPr/>
        </p:nvSpPr>
        <p:spPr>
          <a:xfrm>
            <a:off x="1712671" y="3364992"/>
            <a:ext cx="4867808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21" name="Text 318"/>
          <p:cNvSpPr/>
          <p:nvPr/>
        </p:nvSpPr>
        <p:spPr>
          <a:xfrm>
            <a:off x="1758391" y="3429000"/>
            <a:ext cx="4776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089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Multi-layer visibility</a:t>
            </a:r>
            <a:endParaRPr lang="en-US" sz="760" dirty="0"/>
          </a:p>
        </p:txBody>
      </p:sp>
      <p:sp>
        <p:nvSpPr>
          <p:cNvPr id="322" name="Shape 319"/>
          <p:cNvSpPr/>
          <p:nvPr/>
        </p:nvSpPr>
        <p:spPr>
          <a:xfrm>
            <a:off x="6580480" y="3364992"/>
            <a:ext cx="4867808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23" name="Text 320"/>
          <p:cNvSpPr/>
          <p:nvPr/>
        </p:nvSpPr>
        <p:spPr>
          <a:xfrm>
            <a:off x="6626200" y="3429000"/>
            <a:ext cx="4776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Single-layer analysis</a:t>
            </a:r>
            <a:endParaRPr lang="en-US" sz="760" dirty="0"/>
          </a:p>
        </p:txBody>
      </p:sp>
      <p:sp>
        <p:nvSpPr>
          <p:cNvPr id="324" name="Shape 321"/>
          <p:cNvSpPr/>
          <p:nvPr/>
        </p:nvSpPr>
        <p:spPr>
          <a:xfrm>
            <a:off x="749808" y="3675888"/>
            <a:ext cx="962863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25" name="Text 322"/>
          <p:cNvSpPr/>
          <p:nvPr/>
        </p:nvSpPr>
        <p:spPr>
          <a:xfrm>
            <a:off x="795528" y="3739896"/>
            <a:ext cx="8714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60" dirty="0"/>
          </a:p>
        </p:txBody>
      </p:sp>
      <p:sp>
        <p:nvSpPr>
          <p:cNvPr id="326" name="Shape 323"/>
          <p:cNvSpPr/>
          <p:nvPr/>
        </p:nvSpPr>
        <p:spPr>
          <a:xfrm>
            <a:off x="1712671" y="3675888"/>
            <a:ext cx="48678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27" name="Text 324"/>
          <p:cNvSpPr/>
          <p:nvPr/>
        </p:nvSpPr>
        <p:spPr>
          <a:xfrm>
            <a:off x="1758391" y="3739896"/>
            <a:ext cx="4776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089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Evidence-based alerts</a:t>
            </a:r>
            <a:endParaRPr lang="en-US" sz="760" dirty="0"/>
          </a:p>
        </p:txBody>
      </p:sp>
      <p:sp>
        <p:nvSpPr>
          <p:cNvPr id="328" name="Shape 325"/>
          <p:cNvSpPr/>
          <p:nvPr/>
        </p:nvSpPr>
        <p:spPr>
          <a:xfrm>
            <a:off x="6580480" y="3675888"/>
            <a:ext cx="48678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29" name="Text 326"/>
          <p:cNvSpPr/>
          <p:nvPr/>
        </p:nvSpPr>
        <p:spPr>
          <a:xfrm>
            <a:off x="6626200" y="3739896"/>
            <a:ext cx="4776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"Something changed"</a:t>
            </a:r>
            <a:endParaRPr lang="en-US" sz="760" dirty="0"/>
          </a:p>
        </p:txBody>
      </p:sp>
      <p:sp>
        <p:nvSpPr>
          <p:cNvPr id="330" name="Shape 327"/>
          <p:cNvSpPr/>
          <p:nvPr/>
        </p:nvSpPr>
        <p:spPr>
          <a:xfrm>
            <a:off x="749808" y="3986784"/>
            <a:ext cx="962863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31" name="Text 328"/>
          <p:cNvSpPr/>
          <p:nvPr/>
        </p:nvSpPr>
        <p:spPr>
          <a:xfrm>
            <a:off x="795528" y="4050792"/>
            <a:ext cx="8714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60" dirty="0"/>
          </a:p>
        </p:txBody>
      </p:sp>
      <p:sp>
        <p:nvSpPr>
          <p:cNvPr id="332" name="Shape 329"/>
          <p:cNvSpPr/>
          <p:nvPr/>
        </p:nvSpPr>
        <p:spPr>
          <a:xfrm>
            <a:off x="1712671" y="3986784"/>
            <a:ext cx="4867808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33" name="Text 330"/>
          <p:cNvSpPr/>
          <p:nvPr/>
        </p:nvSpPr>
        <p:spPr>
          <a:xfrm>
            <a:off x="1758391" y="4050792"/>
            <a:ext cx="4776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089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SLA-backed resilience</a:t>
            </a:r>
            <a:endParaRPr lang="en-US" sz="760" dirty="0"/>
          </a:p>
        </p:txBody>
      </p:sp>
      <p:sp>
        <p:nvSpPr>
          <p:cNvPr id="334" name="Shape 331"/>
          <p:cNvSpPr/>
          <p:nvPr/>
        </p:nvSpPr>
        <p:spPr>
          <a:xfrm>
            <a:off x="6580480" y="3986784"/>
            <a:ext cx="4867808" cy="310896"/>
          </a:xfrm>
          <a:prstGeom prst="rect">
            <a:avLst/>
          </a:prstGeom>
          <a:solidFill>
            <a:srgbClr val="F4F7FB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35" name="Text 332"/>
          <p:cNvSpPr/>
          <p:nvPr/>
        </p:nvSpPr>
        <p:spPr>
          <a:xfrm>
            <a:off x="6626200" y="4050792"/>
            <a:ext cx="4776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Self-maintained</a:t>
            </a:r>
            <a:endParaRPr lang="en-US" sz="760" dirty="0"/>
          </a:p>
        </p:txBody>
      </p:sp>
      <p:sp>
        <p:nvSpPr>
          <p:cNvPr id="336" name="Shape 333"/>
          <p:cNvSpPr/>
          <p:nvPr/>
        </p:nvSpPr>
        <p:spPr>
          <a:xfrm>
            <a:off x="749808" y="4297680"/>
            <a:ext cx="962863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37" name="Text 334"/>
          <p:cNvSpPr/>
          <p:nvPr/>
        </p:nvSpPr>
        <p:spPr>
          <a:xfrm>
            <a:off x="795528" y="4361688"/>
            <a:ext cx="8714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60" dirty="0"/>
          </a:p>
        </p:txBody>
      </p:sp>
      <p:sp>
        <p:nvSpPr>
          <p:cNvPr id="338" name="Shape 335"/>
          <p:cNvSpPr/>
          <p:nvPr/>
        </p:nvSpPr>
        <p:spPr>
          <a:xfrm>
            <a:off x="1712671" y="4297680"/>
            <a:ext cx="48678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39" name="Text 336"/>
          <p:cNvSpPr/>
          <p:nvPr/>
        </p:nvSpPr>
        <p:spPr>
          <a:xfrm>
            <a:off x="1758391" y="4361688"/>
            <a:ext cx="4776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089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 Native SOC integration</a:t>
            </a:r>
            <a:endParaRPr lang="en-US" sz="760" dirty="0"/>
          </a:p>
        </p:txBody>
      </p:sp>
      <p:sp>
        <p:nvSpPr>
          <p:cNvPr id="340" name="Shape 337"/>
          <p:cNvSpPr/>
          <p:nvPr/>
        </p:nvSpPr>
        <p:spPr>
          <a:xfrm>
            <a:off x="6580480" y="4297680"/>
            <a:ext cx="48678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41" name="Text 338"/>
          <p:cNvSpPr/>
          <p:nvPr/>
        </p:nvSpPr>
        <p:spPr>
          <a:xfrm>
            <a:off x="6626200" y="4361688"/>
            <a:ext cx="477636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D94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 Custom webhook parsing</a:t>
            </a:r>
            <a:endParaRPr lang="en-US" sz="760" dirty="0"/>
          </a:p>
        </p:txBody>
      </p:sp>
      <p:sp>
        <p:nvSpPr>
          <p:cNvPr id="342" name="Shape 339"/>
          <p:cNvSpPr/>
          <p:nvPr/>
        </p:nvSpPr>
        <p:spPr>
          <a:xfrm>
            <a:off x="749808" y="495604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43" name="Text 340"/>
          <p:cNvSpPr/>
          <p:nvPr/>
        </p:nvSpPr>
        <p:spPr>
          <a:xfrm>
            <a:off x="914400" y="5120640"/>
            <a:ext cx="474573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F9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MANIFESTO 01</a:t>
            </a:r>
            <a:endParaRPr lang="en-US" sz="700" dirty="0"/>
          </a:p>
        </p:txBody>
      </p:sp>
      <p:sp>
        <p:nvSpPr>
          <p:cNvPr id="344" name="Text 341"/>
          <p:cNvSpPr/>
          <p:nvPr/>
        </p:nvSpPr>
        <p:spPr>
          <a:xfrm>
            <a:off x="914400" y="5458968"/>
            <a:ext cx="4745736" cy="-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"AI helps you investigate incidents. This architecture prevents you from missing them."</a:t>
            </a:r>
            <a:endParaRPr lang="en-US" sz="810" dirty="0"/>
          </a:p>
        </p:txBody>
      </p:sp>
      <p:sp>
        <p:nvSpPr>
          <p:cNvPr id="345" name="Shape 342"/>
          <p:cNvSpPr/>
          <p:nvPr/>
        </p:nvSpPr>
        <p:spPr>
          <a:xfrm>
            <a:off x="6355080" y="4956048"/>
            <a:ext cx="507492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465166"/>
            </a:solidFill>
            <a:prstDash val="solid"/>
          </a:ln>
        </p:spPr>
      </p:sp>
      <p:sp>
        <p:nvSpPr>
          <p:cNvPr id="346" name="Text 343"/>
          <p:cNvSpPr/>
          <p:nvPr/>
        </p:nvSpPr>
        <p:spPr>
          <a:xfrm>
            <a:off x="6519672" y="5120640"/>
            <a:ext cx="4745736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F9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MANIFESTO 02</a:t>
            </a:r>
            <a:endParaRPr lang="en-US" sz="700" dirty="0"/>
          </a:p>
        </p:txBody>
      </p:sp>
      <p:sp>
        <p:nvSpPr>
          <p:cNvPr id="347" name="Text 344"/>
          <p:cNvSpPr/>
          <p:nvPr/>
        </p:nvSpPr>
        <p:spPr>
          <a:xfrm>
            <a:off x="6519672" y="5458968"/>
            <a:ext cx="4745736" cy="-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E6E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"Security is not about detecting what changed — it is about proving what was never supposed to change."</a:t>
            </a:r>
            <a:endParaRPr lang="en-US" sz="810" dirty="0"/>
          </a:p>
        </p:txBody>
      </p:sp>
      <p:sp>
        <p:nvSpPr>
          <p:cNvPr id="348" name="Shape 345"/>
          <p:cNvSpPr/>
          <p:nvPr/>
        </p:nvSpPr>
        <p:spPr>
          <a:xfrm>
            <a:off x="749808" y="6053328"/>
            <a:ext cx="10680192" cy="0"/>
          </a:xfrm>
          <a:prstGeom prst="line">
            <a:avLst/>
          </a:prstGeom>
          <a:noFill/>
          <a:ln w="12700">
            <a:solidFill>
              <a:srgbClr val="465166"/>
            </a:solidFill>
            <a:prstDash val="solid"/>
          </a:ln>
        </p:spPr>
      </p:sp>
      <p:sp>
        <p:nvSpPr>
          <p:cNvPr id="349" name="Text 346"/>
          <p:cNvSpPr/>
          <p:nvPr/>
        </p:nvSpPr>
        <p:spPr>
          <a:xfrm>
            <a:off x="749808" y="6236208"/>
            <a:ext cx="128016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9AA7B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▶ POWERED BY</a:t>
            </a:r>
            <a:endParaRPr lang="en-US" sz="650" dirty="0"/>
          </a:p>
        </p:txBody>
      </p:sp>
      <p:sp>
        <p:nvSpPr>
          <p:cNvPr id="350" name="Shape 347"/>
          <p:cNvSpPr/>
          <p:nvPr/>
        </p:nvSpPr>
        <p:spPr>
          <a:xfrm>
            <a:off x="8732520" y="6172200"/>
            <a:ext cx="960120" cy="256032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6F9CFF"/>
            </a:solidFill>
            <a:prstDash val="solid"/>
          </a:ln>
        </p:spPr>
      </p:sp>
      <p:sp>
        <p:nvSpPr>
          <p:cNvPr id="351" name="Text 348"/>
          <p:cNvSpPr/>
          <p:nvPr/>
        </p:nvSpPr>
        <p:spPr>
          <a:xfrm>
            <a:off x="8805672" y="6208776"/>
            <a:ext cx="81381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SITE24×7</a:t>
            </a:r>
            <a:endParaRPr lang="en-US" sz="680" dirty="0"/>
          </a:p>
        </p:txBody>
      </p:sp>
      <p:sp>
        <p:nvSpPr>
          <p:cNvPr id="352" name="Text 349"/>
          <p:cNvSpPr/>
          <p:nvPr/>
        </p:nvSpPr>
        <p:spPr>
          <a:xfrm>
            <a:off x="9829800" y="6236208"/>
            <a:ext cx="18288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AA7B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×</a:t>
            </a:r>
            <a:endParaRPr lang="en-US" sz="800" dirty="0"/>
          </a:p>
        </p:txBody>
      </p:sp>
      <p:sp>
        <p:nvSpPr>
          <p:cNvPr id="353" name="Shape 350"/>
          <p:cNvSpPr/>
          <p:nvPr/>
        </p:nvSpPr>
        <p:spPr>
          <a:xfrm>
            <a:off x="10131552" y="617220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6F9CFF"/>
            </a:solidFill>
            <a:prstDash val="solid"/>
          </a:ln>
        </p:spPr>
      </p:sp>
      <p:sp>
        <p:nvSpPr>
          <p:cNvPr id="354" name="Text 351"/>
          <p:cNvSpPr/>
          <p:nvPr/>
        </p:nvSpPr>
        <p:spPr>
          <a:xfrm>
            <a:off x="10204704" y="6208776"/>
            <a:ext cx="859536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F9C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VISUALPING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Trust Integrity Monitoring System</dc:title>
  <dc:subject>Editable rebuild from HTML deck</dc:subject>
  <dc:creator>Codex</dc:creator>
  <cp:lastModifiedBy>Codex</cp:lastModifiedBy>
  <cp:revision>1</cp:revision>
  <dcterms:created xsi:type="dcterms:W3CDTF">2026-05-06T08:52:47Z</dcterms:created>
  <dcterms:modified xsi:type="dcterms:W3CDTF">2026-05-06T08:52:47Z</dcterms:modified>
</cp:coreProperties>
</file>