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Helvetica Neue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Helvetica Neue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Helvetica Neue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Helvetica Neue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Helvetica Neue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Helvetica Neue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Helvetica Neue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Helvetica Neue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Helvetica Neue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WTI · MONITORING SYSTEM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● LIVE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1362456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ENTERPRISE SECURITY MONITORING</a:t>
            </a:r>
          </a:p>
        </p:txBody>
      </p:sp>
      <p:sp>
        <p:nvSpPr>
          <p:cNvPr id="5" name="hero-title"/>
          <p:cNvSpPr/>
          <p:nvPr/>
        </p:nvSpPr>
        <p:spPr>
          <a:xfrm>
            <a:off x="548640" y="1801368"/>
            <a:ext cx="11094415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F1F5F9"/>
                </a:solidFill>
                <a:latin typeface="Helvetica Neue"/>
                <a:ea typeface="PingFang TC"/>
              </a:rPr>
              <a:t>Web Trust Integrity
Monitoring System</a:t>
            </a:r>
          </a:p>
        </p:txBody>
      </p:sp>
      <p:sp>
        <p:nvSpPr>
          <p:cNvPr id="6" name="subtitle"/>
          <p:cNvSpPr/>
          <p:nvPr/>
        </p:nvSpPr>
        <p:spPr>
          <a:xfrm>
            <a:off x="548640" y="3337560"/>
            <a:ext cx="11094415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0" i="0">
                <a:solidFill>
                  <a:srgbClr val="94A3B8"/>
                </a:solidFill>
                <a:latin typeface="Helvetica Neue"/>
                <a:ea typeface="PingFang TC"/>
              </a:rPr>
              <a:t>Beyond AI-Only Detection — Multi-Layer, Dual-Stack</a:t>
            </a:r>
          </a:p>
        </p:txBody>
      </p:sp>
      <p:sp>
        <p:nvSpPr>
          <p:cNvPr id="7" name="lead"/>
          <p:cNvSpPr/>
          <p:nvPr/>
        </p:nvSpPr>
        <p:spPr>
          <a:xfrm>
            <a:off x="548640" y="4078224"/>
            <a:ext cx="11094415" cy="502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0" i="0">
                <a:solidFill>
                  <a:srgbClr val="94A3B8"/>
                </a:solidFill>
                <a:latin typeface="Helvetica Neue"/>
                <a:ea typeface="PingFang TC"/>
              </a:rPr>
              <a:t>DNS + IPv4/IPv6 + Content + Visual + AI Assist</a:t>
            </a:r>
          </a:p>
        </p:txBody>
      </p:sp>
      <p:sp>
        <p:nvSpPr>
          <p:cNvPr id="8" name="pillar-0"/>
          <p:cNvSpPr/>
          <p:nvPr/>
        </p:nvSpPr>
        <p:spPr>
          <a:xfrm>
            <a:off x="548640" y="4855464"/>
            <a:ext cx="2218883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1F5F9"/>
                </a:solidFill>
                <a:latin typeface="JetBrains Mono"/>
                <a:ea typeface="Consolas"/>
              </a:rPr>
              <a:t>L1
DNS</a:t>
            </a:r>
          </a:p>
        </p:txBody>
      </p:sp>
      <p:sp>
        <p:nvSpPr>
          <p:cNvPr id="9" name="pillar-1"/>
          <p:cNvSpPr/>
          <p:nvPr/>
        </p:nvSpPr>
        <p:spPr>
          <a:xfrm>
            <a:off x="2767523" y="4855464"/>
            <a:ext cx="2218883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1F5F9"/>
                </a:solidFill>
                <a:latin typeface="JetBrains Mono"/>
                <a:ea typeface="Consolas"/>
              </a:rPr>
              <a:t>L2
IPv4/IPv6</a:t>
            </a:r>
          </a:p>
        </p:txBody>
      </p:sp>
      <p:sp>
        <p:nvSpPr>
          <p:cNvPr id="10" name="pillar-2"/>
          <p:cNvSpPr/>
          <p:nvPr/>
        </p:nvSpPr>
        <p:spPr>
          <a:xfrm>
            <a:off x="4986406" y="4855464"/>
            <a:ext cx="2218883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1F5F9"/>
                </a:solidFill>
                <a:latin typeface="JetBrains Mono"/>
                <a:ea typeface="Consolas"/>
              </a:rPr>
              <a:t>L3
Content</a:t>
            </a:r>
          </a:p>
        </p:txBody>
      </p:sp>
      <p:sp>
        <p:nvSpPr>
          <p:cNvPr id="11" name="pillar-3"/>
          <p:cNvSpPr/>
          <p:nvPr/>
        </p:nvSpPr>
        <p:spPr>
          <a:xfrm>
            <a:off x="7205289" y="4855464"/>
            <a:ext cx="2218883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1F5F9"/>
                </a:solidFill>
                <a:latin typeface="JetBrains Mono"/>
                <a:ea typeface="Consolas"/>
              </a:rPr>
              <a:t>L4
Visual</a:t>
            </a:r>
          </a:p>
        </p:txBody>
      </p:sp>
      <p:sp>
        <p:nvSpPr>
          <p:cNvPr id="12" name="pillar-4"/>
          <p:cNvSpPr/>
          <p:nvPr/>
        </p:nvSpPr>
        <p:spPr>
          <a:xfrm>
            <a:off x="9424172" y="4855464"/>
            <a:ext cx="2218883" cy="27432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 i="0">
                <a:solidFill>
                  <a:srgbClr val="F1F5F9"/>
                </a:solidFill>
                <a:latin typeface="JetBrains Mono"/>
                <a:ea typeface="Consolas"/>
              </a:rPr>
              <a:t>L5
AI Assist</a:t>
            </a:r>
          </a:p>
        </p:txBody>
      </p:sp>
      <p:sp>
        <p:nvSpPr>
          <p:cNvPr id="13" name="meta"/>
          <p:cNvSpPr/>
          <p:nvPr/>
        </p:nvSpPr>
        <p:spPr>
          <a:xfrm>
            <a:off x="548640" y="5312664"/>
            <a:ext cx="11094415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 i="0">
                <a:solidFill>
                  <a:srgbClr val="94A3B8"/>
                </a:solidFill>
                <a:latin typeface="JetBrains Mono"/>
                <a:ea typeface="Consolas"/>
              </a:rPr>
              <a:t>POWERED BY  SITE24X7  +  VISUALPING</a:t>
            </a:r>
          </a:p>
        </p:txBody>
      </p:sp>
      <p:sp>
        <p:nvSpPr>
          <p:cNvPr id="14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v1.0 · 2026</a:t>
            </a:r>
          </a:p>
        </p:txBody>
      </p:sp>
      <p:sp>
        <p:nvSpPr>
          <p:cNvPr id="15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CONFIDENTIAL ·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The Threat Landscape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02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THE THREAT LANDSCAPE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Modern Web Defacement ≠ Just Content Change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Attack Vector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AI-Only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 Hijack (A/AAAA)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Full-site redirect to malicious host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No DNS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IPv6 Path Hijack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Bypasses IPv4 monitoring entirely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Most tools IPv4-only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DOM Injection (XSS → deface)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Page "looks normal" but runs malicious 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High false-positive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Visual Overlay Phishing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CSS overlay fake login, URL unchanged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Text diff invisible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ote-bar"/>
          <p:cNvSpPr/>
          <p:nvPr/>
        </p:nvSpPr>
        <p:spPr>
          <a:xfrm>
            <a:off x="548640" y="3456432"/>
            <a:ext cx="36576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quote"/>
          <p:cNvSpPr/>
          <p:nvPr/>
        </p:nvSpPr>
        <p:spPr>
          <a:xfrm>
            <a:off x="621792" y="3456432"/>
            <a:ext cx="11021263" cy="5029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"DNS is the trust anchor of the Internet. Once compromised, even SSL certificates cannot save you."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02 · The Real Problem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Multi-layer attack surface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Attacker Flow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03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ATTACKER FLOW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How They Bypass AI Monitoring</a:t>
            </a:r>
          </a:p>
        </p:txBody>
      </p:sp>
      <p:sp>
        <p:nvSpPr>
          <p:cNvPr id="6" name="attack-chain"/>
          <p:cNvSpPr/>
          <p:nvPr/>
        </p:nvSpPr>
        <p:spPr>
          <a:xfrm>
            <a:off x="548640" y="1536192"/>
            <a:ext cx="5364327" cy="2377440"/>
          </a:xfrm>
          <a:prstGeom prst="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DC2626"/>
                </a:solidFill>
                <a:latin typeface="JetBrains Mono"/>
                <a:ea typeface="Consolas"/>
              </a:rPr>
              <a:t>ATTACK CHAIN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1. Compromise DNS → change AAAA record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2. Host phishing site on IPv6 path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3. Inject fake login UI (CSS overlay)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4. Users access via IPv6 (default OS)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RESULT: AI sees 'normal', IPv4 sees clean, User compromised</a:t>
            </a:r>
          </a:p>
        </p:txBody>
      </p:sp>
      <p:sp>
        <p:nvSpPr>
          <p:cNvPr id="7" name="interception"/>
          <p:cNvSpPr/>
          <p:nvPr/>
        </p:nvSpPr>
        <p:spPr>
          <a:xfrm>
            <a:off x="6278727" y="1536192"/>
            <a:ext cx="5364327" cy="2377440"/>
          </a:xfrm>
          <a:prstGeom prst="rect">
            <a:avLst/>
          </a:prstGeom>
          <a:solidFill>
            <a:srgbClr val="DBE9FE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OUR INTERCEPTION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DNS Layer → Site24x7 detects A/AAAA/MX change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IPv6 Layer → Dual-stack validation triggers</a:t>
            </a:r>
          </a:p>
          <a:p>
            <a:r>
              <a:rPr sz="1200" b="0" i="0">
                <a:solidFill>
                  <a:srgbClr val="1E293B"/>
                </a:solidFill>
                <a:latin typeface="Helvetica Neue"/>
                <a:ea typeface="PingFang TC"/>
              </a:rPr>
              <a:t>Visual Layer → Visualping confirms overlay anomaly</a:t>
            </a:r>
          </a:p>
        </p:txBody>
      </p:sp>
      <p:sp>
        <p:nvSpPr>
          <p:cNvPr id="8" name="quote-bar"/>
          <p:cNvSpPr/>
          <p:nvPr/>
        </p:nvSpPr>
        <p:spPr>
          <a:xfrm>
            <a:off x="548640" y="4187952"/>
            <a:ext cx="36576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lockquote"/>
          <p:cNvSpPr/>
          <p:nvPr/>
        </p:nvSpPr>
        <p:spPr>
          <a:xfrm>
            <a:off x="621792" y="4187952"/>
            <a:ext cx="11021263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"Attackers don't operate in layers you can see — they operate in layers you don't monitor."</a:t>
            </a:r>
          </a:p>
        </p:txBody>
      </p:sp>
      <p:sp>
        <p:nvSpPr>
          <p:cNvPr id="10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03 · Attack Simulation</a:t>
            </a:r>
          </a:p>
        </p:txBody>
      </p:sp>
      <p:sp>
        <p:nvSpPr>
          <p:cNvPr id="11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Attack path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The AI Limitation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04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THE AI LIMITATION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AI: Powerful Assistant, Insufficient Guardian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Limitation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Operational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Probabilistic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Same prompt yields different conclusions — unsuitable for incident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network-layer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Cannot see DNS records, TTL values, or IPv6 route paths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deterministic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Cannot distinguish "authorized CMS update" from "malicious defacement"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Alert fatigue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High false-positive rate → SOC ignores real threats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ote-bar"/>
          <p:cNvSpPr/>
          <p:nvPr/>
        </p:nvSpPr>
        <p:spPr>
          <a:xfrm>
            <a:off x="548640" y="3273552"/>
            <a:ext cx="36576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quote"/>
          <p:cNvSpPr/>
          <p:nvPr/>
        </p:nvSpPr>
        <p:spPr>
          <a:xfrm>
            <a:off x="621792" y="3273552"/>
            <a:ext cx="11021263" cy="50292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"AI tells you 'something might be wrong.' Security Operations needs 'something is wrong, and here is the evidence.'"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04 · AI-Only Fails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Probabilistic vs deterministic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Capability Matrix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05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CAPABILITY MATRIX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AI-Only vs DIY vs Enterprise Platform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AI-Only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DIY / Open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Site24x7 + Visualping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Detection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Probabilistic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Deterministic, 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Deterministic + AI-enhanced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 validation (A/AAAA/MX)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Self-built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✓ 130+ locations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IPv4/IPv6 dual-stack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Proxy fleet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✓ Auto-fallback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Audit-ready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Self-managed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✓ Timestamped + attested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SLA-backed availability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You own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✓ 99.99% uptime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SOC integration (SOAR/SIEM)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Webhook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Self-parse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D4ED8"/>
                          </a:solidFill>
                          <a:latin typeface="Helvetica Neue"/>
                          <a:ea typeface="PingFang TC"/>
                        </a:rPr>
                        <a:t>✓ ServiceNow + PagerDuty</a:t>
                      </a:r>
                    </a:p>
                  </a:txBody>
                  <a:tcPr>
                    <a:solidFill>
                      <a:srgbClr val="DBE9FE"/>
                    </a:solidFill>
                  </a:tcPr>
                </a:tc>
              </a:tr>
            </a:tbl>
          </a:graphicData>
        </a:graphic>
      </p:graphicFrame>
      <p:sp>
        <p:nvSpPr>
          <p:cNvPr id="7" name="accountability"/>
          <p:cNvSpPr/>
          <p:nvPr/>
        </p:nvSpPr>
        <p:spPr>
          <a:xfrm>
            <a:off x="548640" y="3822192"/>
            <a:ext cx="11094415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 i="0">
                <a:solidFill>
                  <a:srgbClr val="1E293B"/>
                </a:solidFill>
                <a:latin typeface="Helvetica Neue"/>
                <a:ea typeface="PingFang TC"/>
              </a:rPr>
              <a:t>Who is accountable when it fails?     AI-only: Nobody     DIY: You     Platform: Vendor-backed</a:t>
            </a:r>
          </a:p>
        </p:txBody>
      </p:sp>
      <p:sp>
        <p:nvSpPr>
          <p:cNvPr id="8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05 · Capability Comparison</a:t>
            </a:r>
          </a:p>
        </p:txBody>
      </p:sp>
      <p:sp>
        <p:nvSpPr>
          <p:cNvPr id="9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Accountability comparison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System Architecture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06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SYSTEM ARCHITECTURE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Each Layer Answers a Different Question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313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Question Answered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Deployed 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"Am I talking to the right server?"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Site24x7 DNS Monitor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Network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"Am I reaching it the same way users do?"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Dual-Stack IPv4/IPv6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HTTP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"Is the connection secure and performant?"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Website Monitor + SSL Probe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Content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"Has anything been modified?"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Defacement Monitor (DOM hash)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Visual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"What do users actually see?"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Visualping Screenshot 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AI 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"Is this anomaly important or noise?"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→ AIOps + Semantic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ote-bar"/>
          <p:cNvSpPr/>
          <p:nvPr/>
        </p:nvSpPr>
        <p:spPr>
          <a:xfrm>
            <a:off x="548640" y="4187952"/>
            <a:ext cx="36576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quote"/>
          <p:cNvSpPr/>
          <p:nvPr/>
        </p:nvSpPr>
        <p:spPr>
          <a:xfrm>
            <a:off x="621792" y="4187952"/>
            <a:ext cx="11021263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"Each layer answers a different question. Only together do they answer: Is my web presence trustworthy?"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06 · Architecture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Layered trust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Deployment Spec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07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DEPLOYMENT SPEC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What We Actually Deploy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Layer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Key Feature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Site24x7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A/AAAA record validation, 130+ geo-distributed probes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1–5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Network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Site24x7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IPv4/IPv6 dual-stack with auto protocol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1–10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Content/DOM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Site24x7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Baseline DOM comparison, text/script modification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1–10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Visual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Visualping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Screenshot diff + AI summary (IMPORTANT / NOT IMPORTANT)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2–15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Alerting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Both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Native SOAR integration, webhook, email, 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Real-time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ote-bar"/>
          <p:cNvSpPr/>
          <p:nvPr/>
        </p:nvSpPr>
        <p:spPr>
          <a:xfrm>
            <a:off x="548640" y="3456432"/>
            <a:ext cx="36576" cy="5486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quote"/>
          <p:cNvSpPr/>
          <p:nvPr/>
        </p:nvSpPr>
        <p:spPr>
          <a:xfrm>
            <a:off x="621792" y="3456432"/>
            <a:ext cx="11021263" cy="54864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"IPv6 monitoring is not a 'future trend' — it is a present attack surface. Windows defaults to IPv6-preferred; attackers already use this path to bypass IPv4-only monitoring."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07 · Layer Breakdown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Practical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Visual Detection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08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VISUAL DETECTION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Not Rendering — Detecting What Matters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Threat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Traditional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Visualping Solution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CSS overlay phishing (fake login)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DOM may not change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Screenshot diff reveals visual anomaly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JS dynamic content swap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High false-positive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AI Summary marks IMPORTANT / NOT IMPORTANT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Brand defacement (logo replaced)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⚠ Text diff may miss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Pixel-level comparison + custom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Specific area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Full-page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Region-specific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quote-bar"/>
          <p:cNvSpPr/>
          <p:nvPr/>
        </p:nvSpPr>
        <p:spPr>
          <a:xfrm>
            <a:off x="548640" y="3456432"/>
            <a:ext cx="36576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lockquote"/>
          <p:cNvSpPr/>
          <p:nvPr/>
        </p:nvSpPr>
        <p:spPr>
          <a:xfrm>
            <a:off x="621792" y="3456432"/>
            <a:ext cx="11021263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"Visual monitoring is not about rendering the page — it is about detecting what changed, and whether it matters."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08 · Visual Deep Dive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CSS overlay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The IPv6 Blind Spot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09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THE IPv6 BLIND SPOT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Your Users Are on IPv6. Your Monitors Aren't.</a:t>
            </a:r>
          </a:p>
        </p:txBody>
      </p:sp>
      <p:sp>
        <p:nvSpPr>
          <p:cNvPr id="6" name="ipv6-card-0"/>
          <p:cNvSpPr/>
          <p:nvPr/>
        </p:nvSpPr>
        <p:spPr>
          <a:xfrm>
            <a:off x="548640" y="1536192"/>
            <a:ext cx="3576218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D4ED8"/>
                </a:solidFill>
                <a:latin typeface="JetBrains Mono"/>
                <a:ea typeface="Consolas"/>
              </a:rPr>
              <a:t>REALITY 01</a:t>
            </a:r>
          </a:p>
          <a:p>
            <a:r>
              <a:rPr sz="1600" b="1" i="0">
                <a:solidFill>
                  <a:srgbClr val="1E293B"/>
                </a:solidFill>
                <a:latin typeface="Helvetica Neue"/>
                <a:ea typeface="PingFang TC"/>
              </a:rPr>
              <a:t>OS Defaults to IPv6</a:t>
            </a:r>
          </a:p>
          <a:p>
            <a:r>
              <a:rPr sz="1100" b="0" i="0">
                <a:solidFill>
                  <a:srgbClr val="64748B"/>
                </a:solidFill>
                <a:latin typeface="Helvetica Neue"/>
                <a:ea typeface="PingFang TC"/>
              </a:rPr>
              <a:t>Windows, macOS, iOS, and Android all prefer IPv6. Your users are already on the path you don't monitor.</a:t>
            </a:r>
          </a:p>
        </p:txBody>
      </p:sp>
      <p:sp>
        <p:nvSpPr>
          <p:cNvPr id="7" name="ipv6-card-1"/>
          <p:cNvSpPr/>
          <p:nvPr/>
        </p:nvSpPr>
        <p:spPr>
          <a:xfrm>
            <a:off x="4307738" y="1536192"/>
            <a:ext cx="3576218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D4ED8"/>
                </a:solidFill>
                <a:latin typeface="JetBrains Mono"/>
                <a:ea typeface="Consolas"/>
              </a:rPr>
              <a:t>REALITY 02</a:t>
            </a:r>
          </a:p>
          <a:p>
            <a:r>
              <a:rPr sz="1600" b="1" i="0">
                <a:solidFill>
                  <a:srgbClr val="1E293B"/>
                </a:solidFill>
                <a:latin typeface="Helvetica Neue"/>
                <a:ea typeface="PingFang TC"/>
              </a:rPr>
              <a:t>Policy Inconsistency</a:t>
            </a:r>
          </a:p>
          <a:p>
            <a:r>
              <a:rPr sz="1100" b="0" i="0">
                <a:solidFill>
                  <a:srgbClr val="64748B"/>
                </a:solidFill>
                <a:latin typeface="Helvetica Neue"/>
                <a:ea typeface="PingFang TC"/>
              </a:rPr>
              <a:t>IPv6 policy misconfigurations allow attackers to inject different content on IPv6 paths, bypassing IPv4 checks entirely.</a:t>
            </a:r>
          </a:p>
        </p:txBody>
      </p:sp>
      <p:sp>
        <p:nvSpPr>
          <p:cNvPr id="8" name="ipv6-card-2"/>
          <p:cNvSpPr/>
          <p:nvPr/>
        </p:nvSpPr>
        <p:spPr>
          <a:xfrm>
            <a:off x="8066836" y="1536192"/>
            <a:ext cx="3576218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 i="0">
                <a:solidFill>
                  <a:srgbClr val="1D4ED8"/>
                </a:solidFill>
                <a:latin typeface="JetBrains Mono"/>
                <a:ea typeface="Consolas"/>
              </a:rPr>
              <a:t>REALITY 03</a:t>
            </a:r>
          </a:p>
          <a:p>
            <a:r>
              <a:rPr sz="1600" b="1" i="0">
                <a:solidFill>
                  <a:srgbClr val="1E293B"/>
                </a:solidFill>
                <a:latin typeface="Helvetica Neue"/>
                <a:ea typeface="PingFang TC"/>
              </a:rPr>
              <a:t>AAAA Record Tampering</a:t>
            </a:r>
          </a:p>
          <a:p>
            <a:r>
              <a:rPr sz="1100" b="0" i="0">
                <a:solidFill>
                  <a:srgbClr val="64748B"/>
                </a:solidFill>
                <a:latin typeface="Helvetica Neue"/>
                <a:ea typeface="PingFang TC"/>
              </a:rPr>
              <a:t>DNS AAAA record hijacking redirects users to malicious IPv6 hosts while A records remain completely clean.</a:t>
            </a:r>
          </a:p>
        </p:txBody>
      </p:sp>
      <p:sp>
        <p:nvSpPr>
          <p:cNvPr id="9" name="quote-bar"/>
          <p:cNvSpPr/>
          <p:nvPr/>
        </p:nvSpPr>
        <p:spPr>
          <a:xfrm>
            <a:off x="548640" y="2907792"/>
            <a:ext cx="36576" cy="457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lockquote"/>
          <p:cNvSpPr/>
          <p:nvPr/>
        </p:nvSpPr>
        <p:spPr>
          <a:xfrm>
            <a:off x="621792" y="2907792"/>
            <a:ext cx="11021263" cy="4572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0" i="1">
                <a:solidFill>
                  <a:srgbClr val="1E293B"/>
                </a:solidFill>
                <a:latin typeface="Helvetica Neue"/>
                <a:ea typeface="PingFang TC"/>
              </a:rPr>
              <a:t>"If you don't monitor IPv6, you don't monitor your users' actual experience — and attackers know it."</a:t>
            </a:r>
          </a:p>
        </p:txBody>
      </p:sp>
      <p:sp>
        <p:nvSpPr>
          <p:cNvPr id="11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09 · IPv6 Blind Spot</a:t>
            </a:r>
          </a:p>
        </p:txBody>
      </p:sp>
      <p:sp>
        <p:nvSpPr>
          <p:cNvPr id="12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Present attack surface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Security Operations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10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SECURITY OPERATIONS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Time-Bound Security Operations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1929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8234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&lt; 1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 / Website / Defacement monitor trigger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&lt; 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Visualping screenshot diff + Site24x7 RCA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234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&lt; 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Auto-ticket + Alert + Evidence package delivery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workflow"/>
          <p:cNvSpPr/>
          <p:nvPr/>
        </p:nvSpPr>
        <p:spPr>
          <a:xfrm>
            <a:off x="548640" y="2816352"/>
            <a:ext cx="11094415" cy="12801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1D4ED8"/>
                </a:solidFill>
                <a:latin typeface="JetBrains Mono"/>
                <a:ea typeface="Consolas"/>
              </a:rPr>
              <a:t>WORKFLOW</a:t>
            </a:r>
          </a:p>
          <a:p>
            <a:r>
              <a:rPr sz="1100" b="0" i="0">
                <a:solidFill>
                  <a:srgbClr val="1E293B"/>
                </a:solidFill>
                <a:latin typeface="Helvetica Neue"/>
                <a:ea typeface="PingFang TC"/>
              </a:rPr>
              <a:t>Fast Automated Checks → DNS Monitor / Website Monitor / Defacement Monitor</a:t>
            </a:r>
          </a:p>
          <a:p>
            <a:r>
              <a:rPr sz="1100" b="0" i="0">
                <a:solidFill>
                  <a:srgbClr val="1E293B"/>
                </a:solidFill>
                <a:latin typeface="Helvetica Neue"/>
                <a:ea typeface="PingFang TC"/>
              </a:rPr>
              <a:t>Triggered Validation → Visualping screenshot diff + Site24x7 RCA</a:t>
            </a:r>
          </a:p>
          <a:p>
            <a:r>
              <a:rPr sz="1100" b="0" i="0">
                <a:solidFill>
                  <a:srgbClr val="1E293B"/>
                </a:solidFill>
                <a:latin typeface="Helvetica Neue"/>
                <a:ea typeface="PingFang TC"/>
              </a:rPr>
              <a:t>Orchestrated Response → ServiceNow / Jira + PagerDuty / Slack / Teams</a:t>
            </a:r>
          </a:p>
        </p:txBody>
      </p:sp>
      <p:sp>
        <p:nvSpPr>
          <p:cNvPr id="8" name="sla-quote"/>
          <p:cNvSpPr/>
          <p:nvPr/>
        </p:nvSpPr>
        <p:spPr>
          <a:xfrm>
            <a:off x="548640" y="4370832"/>
            <a:ext cx="11094415" cy="228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 i="1">
                <a:solidFill>
                  <a:srgbClr val="64748B"/>
                </a:solidFill>
                <a:latin typeface="Helvetica Neue"/>
                <a:ea typeface="PingFang TC"/>
              </a:rPr>
              <a:t>SLA thinking: Detection &lt; 1min, Validation &lt; 5min, Response &lt; 15min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10 · SOC Model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Time-bound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Enterprise Assurance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11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ENTERPRISE ASSURANCE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Why Enterprise Platform for Government Operations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DIY / Open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Site24x7 + Visualping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Immutable audit trail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Self-managed, easily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Timestamped, geo-tagged, vendor-attested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RBAC (Role-based access)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Self-built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Granular access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Compliance (SOC 2, ISO 27001)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Self-assessed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Vendor-certified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Vendor liability / SLA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You carry the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Contractual obligation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Chain of custody (legal)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✗ Self-attested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✓ Vendor-attested evidence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11 · Audit &amp; Compliance</a:t>
            </a:r>
          </a:p>
        </p:txBody>
      </p:sp>
      <p:sp>
        <p:nvSpPr>
          <p:cNvPr id="8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Government/HA requirements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Total Cost of Ownership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12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TOTAL COST OF OWNERSHIP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The Hidden Cost of 'Free'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Cost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DIY / Vibe 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Site24x7 + Visualping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Infrastructure (proxy, server, storage)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$$$ Continuous spend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Included in subscription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Engineering time (build + maintain)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Ongoing investment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Near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Alert fatigue / false positive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Low (threshold + AI summary)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Incident response delay (no RCA)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Low (auto RCA report)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676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3-year TCO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Higher and unpredictable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Predictable, budgetable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12 · TCO Reality</a:t>
            </a:r>
          </a:p>
        </p:txBody>
      </p:sp>
      <p:sp>
        <p:nvSpPr>
          <p:cNvPr id="8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Cost predictability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Competitive Landscape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13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457200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▶ COMPETITIVE LANDSCAPE</a:t>
            </a:r>
          </a:p>
        </p:txBody>
      </p:sp>
      <p:sp>
        <p:nvSpPr>
          <p:cNvPr id="5" name="headline"/>
          <p:cNvSpPr/>
          <p:nvPr/>
        </p:nvSpPr>
        <p:spPr>
          <a:xfrm>
            <a:off x="548640" y="713232"/>
            <a:ext cx="11094415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4000" b="1" i="0">
                <a:solidFill>
                  <a:srgbClr val="1E293B"/>
                </a:solidFill>
                <a:latin typeface="Helvetica Neue"/>
                <a:ea typeface="PingFang TC"/>
              </a:rPr>
              <a:t>Why Others Fall Short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36192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Vendor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Weakness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64748B"/>
                          </a:solidFill>
                          <a:latin typeface="JetBrains Mono"/>
                          <a:ea typeface="Consolas"/>
                        </a:rPr>
                        <a:t>Our Advantage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AI-only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DNS / IPv6 visibility; probabilistic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Multi-layer deterministic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DIY / Open-source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SLA, no audit trail, no accountability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Vendor-backed, compliance-ready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Content trackers (e.g. ChangeTower)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security focus, no RCA capability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Security-grade monitoring + auto RCA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Pure visual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No infrastructure layer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E293B"/>
                          </a:solidFill>
                          <a:latin typeface="Helvetica Neue"/>
                          <a:ea typeface="PingFang TC"/>
                        </a:rPr>
                        <a:t>DNS + network + content + visual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Page 13 · Why Others Fall Short</a:t>
            </a:r>
          </a:p>
        </p:txBody>
      </p:sp>
      <p:sp>
        <p:nvSpPr>
          <p:cNvPr id="8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64748B"/>
                </a:solidFill>
                <a:latin typeface="JetBrains Mono"/>
                <a:ea typeface="Consolas"/>
              </a:rPr>
              <a:t>Competitive differentiation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hrome-left"/>
          <p:cNvSpPr/>
          <p:nvPr/>
        </p:nvSpPr>
        <p:spPr>
          <a:xfrm>
            <a:off x="548640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Key Takeaway</a:t>
            </a:r>
          </a:p>
        </p:txBody>
      </p:sp>
      <p:sp>
        <p:nvSpPr>
          <p:cNvPr id="3" name="chrome-right"/>
          <p:cNvSpPr/>
          <p:nvPr/>
        </p:nvSpPr>
        <p:spPr>
          <a:xfrm>
            <a:off x="6095847" y="292608"/>
            <a:ext cx="5547207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14 / 14</a:t>
            </a:r>
          </a:p>
        </p:txBody>
      </p:sp>
      <p:sp>
        <p:nvSpPr>
          <p:cNvPr id="4" name="kicker"/>
          <p:cNvSpPr/>
          <p:nvPr/>
        </p:nvSpPr>
        <p:spPr>
          <a:xfrm>
            <a:off x="548640" y="946404"/>
            <a:ext cx="11094415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1" i="0">
                <a:solidFill>
                  <a:srgbClr val="1D4ED8"/>
                </a:solidFill>
                <a:latin typeface="JetBrains Mono"/>
                <a:ea typeface="Consolas"/>
              </a:rPr>
              <a:t>KEY TAKEAWAY</a:t>
            </a:r>
          </a:p>
        </p:txBody>
      </p:sp>
      <p:sp>
        <p:nvSpPr>
          <p:cNvPr id="5" name="hero-title"/>
          <p:cNvSpPr/>
          <p:nvPr/>
        </p:nvSpPr>
        <p:spPr>
          <a:xfrm>
            <a:off x="548640" y="1385316"/>
            <a:ext cx="11094415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5400" b="1" i="0">
                <a:solidFill>
                  <a:srgbClr val="F1F5F9"/>
                </a:solidFill>
                <a:latin typeface="Helvetica Neue"/>
                <a:ea typeface="PingFang TC"/>
              </a:rPr>
              <a:t>We Don't Just Detect.
We Prove.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920240" y="2711196"/>
          <a:ext cx="83512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5607"/>
                <a:gridCol w="4175608"/>
              </a:tblGrid>
              <a:tr h="2438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59669"/>
                          </a:solidFill>
                          <a:latin typeface="Helvetica Neue"/>
                          <a:ea typeface="PingFang TC"/>
                        </a:rPr>
                        <a:t>✓ Deterministic validation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DC2626"/>
                          </a:solidFill>
                          <a:latin typeface="Helvetica Neue"/>
                          <a:ea typeface="PingFang TC"/>
                        </a:rPr>
                        <a:t>✗ Probabilistic inference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59669"/>
                          </a:solidFill>
                          <a:latin typeface="Helvetica Neue"/>
                          <a:ea typeface="PingFang TC"/>
                        </a:rPr>
                        <a:t>✓ Multi-layer visibility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DC2626"/>
                          </a:solidFill>
                          <a:latin typeface="Helvetica Neue"/>
                          <a:ea typeface="PingFang TC"/>
                        </a:rPr>
                        <a:t>✗ Single-layer analysis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59669"/>
                          </a:solidFill>
                          <a:latin typeface="Helvetica Neue"/>
                          <a:ea typeface="PingFang TC"/>
                        </a:rPr>
                        <a:t>✓ Evidence-based alerts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DC2626"/>
                          </a:solidFill>
                          <a:latin typeface="Helvetica Neue"/>
                          <a:ea typeface="PingFang TC"/>
                        </a:rPr>
                        <a:t>✗ 'Something changed'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59669"/>
                          </a:solidFill>
                          <a:latin typeface="Helvetica Neue"/>
                          <a:ea typeface="PingFang TC"/>
                        </a:rPr>
                        <a:t>✓ SLA-backed resilience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DC2626"/>
                          </a:solidFill>
                          <a:latin typeface="Helvetica Neue"/>
                          <a:ea typeface="PingFang TC"/>
                        </a:rPr>
                        <a:t>✗ Self-maintained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059669"/>
                          </a:solidFill>
                          <a:latin typeface="Helvetica Neue"/>
                          <a:ea typeface="PingFang TC"/>
                        </a:rPr>
                        <a:t>✓ Native SOC integration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DC2626"/>
                          </a:solidFill>
                          <a:latin typeface="Helvetica Neue"/>
                          <a:ea typeface="PingFang TC"/>
                        </a:rPr>
                        <a:t>✗ Custom webhook parsing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7" name="quote-1"/>
          <p:cNvSpPr/>
          <p:nvPr/>
        </p:nvSpPr>
        <p:spPr>
          <a:xfrm>
            <a:off x="548640" y="3259836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1">
                <a:solidFill>
                  <a:srgbClr val="94A3B8"/>
                </a:solidFill>
                <a:latin typeface="Helvetica Neue"/>
                <a:ea typeface="PingFang TC"/>
              </a:rPr>
              <a:t>"AI helps you investigate incidents. This architecture prevents you from missing them."</a:t>
            </a:r>
          </a:p>
        </p:txBody>
      </p:sp>
      <p:sp>
        <p:nvSpPr>
          <p:cNvPr id="8" name="quote-2"/>
          <p:cNvSpPr/>
          <p:nvPr/>
        </p:nvSpPr>
        <p:spPr>
          <a:xfrm>
            <a:off x="548640" y="3534156"/>
            <a:ext cx="11094415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0" i="1">
                <a:solidFill>
                  <a:srgbClr val="94A3B8"/>
                </a:solidFill>
                <a:latin typeface="Helvetica Neue"/>
                <a:ea typeface="PingFang TC"/>
              </a:rPr>
              <a:t>"Security is not about detecting what changed — it is about proving what was never supposed to change."</a:t>
            </a:r>
          </a:p>
        </p:txBody>
      </p:sp>
      <p:sp>
        <p:nvSpPr>
          <p:cNvPr id="9" name="footer-left"/>
          <p:cNvSpPr/>
          <p:nvPr/>
        </p:nvSpPr>
        <p:spPr>
          <a:xfrm>
            <a:off x="548640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Page 14 · Conclusion</a:t>
            </a:r>
          </a:p>
        </p:txBody>
      </p:sp>
      <p:sp>
        <p:nvSpPr>
          <p:cNvPr id="10" name="footer-right"/>
          <p:cNvSpPr/>
          <p:nvPr/>
        </p:nvSpPr>
        <p:spPr>
          <a:xfrm>
            <a:off x="6095847" y="6263640"/>
            <a:ext cx="55472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r"/>
            <a:r>
              <a:rPr sz="900" b="0" i="0">
                <a:solidFill>
                  <a:srgbClr val="94A3B8"/>
                </a:solidFill>
                <a:latin typeface="JetBrains Mono"/>
                <a:ea typeface="Consolas"/>
              </a:rPr>
              <a:t>Evidence-based assurance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Helvetica Neue"/>
        <a:font script="Hebr" typeface="Helvetica Neue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Helvetica Neue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>generated using python-pptx</dc:description>
  <ns0:lastModifiedBy>Steve Canny</ns0:lastModifiedBy>
  <ns0:revision>1</ns0:revision>
  <ns2:created xsi:type="dcterms:W3CDTF">2013-01-27T09:14:16Z</ns2:created>
  <ns2:modified xsi:type="dcterms:W3CDTF">2026-05-06T08:35:56Z</ns2:modified>
  <ns0:category/>
</ns0:coreProperties>
</file>